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FERMAT: handwritten math,
errors planted on purpose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7400"/>
            <a:ext cx="5058383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2057400"/>
            <a:ext cx="5577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 i="0">
                <a:solidFill>
                  <a:srgbClr val="171A21"/>
                </a:solidFill>
                <a:latin typeface="Arial"/>
              </a:rPr>
              <a:t>~2,200</a:t>
            </a:r>
            <a:r>
              <a:rPr sz="1600" b="0" i="0">
                <a:solidFill>
                  <a:srgbClr val="4A5260"/>
                </a:solidFill>
                <a:latin typeface="Arial"/>
              </a:rPr>
              <a:t> photographed solutions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171A21"/>
                </a:solidFill>
                <a:latin typeface="Arial"/>
              </a:rPr>
              <a:t>85%</a:t>
            </a:r>
            <a:r>
              <a:rPr sz="1600" b="0" i="0">
                <a:solidFill>
                  <a:srgbClr val="4A5260"/>
                </a:solidFill>
                <a:latin typeface="Arial"/>
              </a:rPr>
              <a:t> contain a deliberate error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171A21"/>
                </a:solidFill>
                <a:latin typeface="Arial"/>
              </a:rPr>
              <a:t>Question + answer</a:t>
            </a:r>
            <a:r>
              <a:rPr sz="1600" b="0" i="0">
                <a:solidFill>
                  <a:srgbClr val="4A5260"/>
                </a:solidFill>
                <a:latin typeface="Arial"/>
              </a:rPr>
              <a:t> both in the 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36118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9828F"/>
                </a:solidFill>
                <a:latin typeface="Arial"/>
              </a:rPr>
              <a:t>ONLY FERMAT HAS CORRECT ANSWERS TOO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977639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FERMAT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3977639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7A4B"/>
                </a:solidFill>
                <a:latin typeface="Arial"/>
              </a:rPr>
              <a:t>15% clean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288535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4361687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ErrorRadar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361687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23A34"/>
                </a:solidFill>
                <a:latin typeface="Arial"/>
              </a:rPr>
              <a:t>none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672583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4745735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ScratchMath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4745735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23A34"/>
                </a:solidFill>
                <a:latin typeface="Arial"/>
              </a:rPr>
              <a:t>none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056631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5440680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4A5260"/>
                </a:solidFill>
                <a:latin typeface="Arial"/>
              </a:rPr>
              <a:t>No clean items → no balanced set → the finding on slide 4 cannot be measured at 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RESULT — CONFIRMED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Disagreement predicts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Read the same page 5 times. Measure the disagreement.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31720"/>
            <a:ext cx="3931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98848" y="2331720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0604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71576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Self-disagreement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2715768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099816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7296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…after every artifact cut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3172968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0.796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557016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63016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Model's own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3630168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23A34"/>
                </a:solidFill>
                <a:latin typeface="Arial"/>
              </a:rPr>
              <a:t>0.537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014216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2194560"/>
            <a:ext cx="4754880" cy="219456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0" y="2194560"/>
            <a:ext cx="475488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2514600"/>
            <a:ext cx="4114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1A21"/>
                </a:solidFill>
                <a:latin typeface="Georgia"/>
              </a:rPr>
              <a:t>All 5 readings disagree?</a:t>
            </a:r>
          </a:p>
          <a:p>
            <a:pPr>
              <a:spcBef>
                <a:spcPts val="800"/>
              </a:spcBef>
            </a:pPr>
            <a:r>
              <a:rPr sz="1900" b="1" i="0">
                <a:solidFill>
                  <a:srgbClr val="1B7A4B"/>
                </a:solidFill>
                <a:latin typeface="Georgia"/>
              </a:rPr>
              <a:t>Wrong 57 times out of 61.</a:t>
            </a:r>
          </a:p>
          <a:p>
            <a:pPr>
              <a:spcBef>
                <a:spcPts val="1200"/>
              </a:spcBef>
            </a:pPr>
            <a:r>
              <a:rPr sz="1250" b="0" i="0">
                <a:solidFill>
                  <a:srgbClr val="4A5260"/>
                </a:solidFill>
                <a:latin typeface="Arial"/>
              </a:rPr>
              <a:t>A usable abstention rule. No training, no labels.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EVIDENCE — FOUR REAL PAGES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1A21"/>
                </a:solidFill>
                <a:latin typeface="Georgia"/>
              </a:rPr>
              <a:t>Where it works, and the blind spot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83080"/>
            <a:ext cx="2761488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2761488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320" y="1938528"/>
            <a:ext cx="1520703" cy="18745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" y="395020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Agrees  ·  H = 0.00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1B7A4B"/>
                </a:solidFill>
                <a:latin typeface="Arial"/>
              </a:rPr>
              <a:t>Correct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56432" y="1783080"/>
            <a:ext cx="2761488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6432" y="1783080"/>
            <a:ext cx="2761488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592" y="2193371"/>
            <a:ext cx="2487168" cy="13648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3592" y="395020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Disagrees  ·  H = 1.61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1B7A4B"/>
                </a:solidFill>
                <a:latin typeface="Arial"/>
              </a:rPr>
              <a:t>Caught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5936" y="1783080"/>
            <a:ext cx="2761488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6" y="1783080"/>
            <a:ext cx="2761488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127" y="1938528"/>
            <a:ext cx="1537105" cy="187451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83096" y="395020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Disagrees  ·  H = 1.61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9A6A12"/>
                </a:solidFill>
                <a:latin typeface="Arial"/>
              </a:rPr>
              <a:t>False alarm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1783080"/>
            <a:ext cx="2761488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35440" y="1783080"/>
            <a:ext cx="2761488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6923" y="1938528"/>
            <a:ext cx="1518522" cy="18745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372600" y="395020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Agrees  ·  H = 0.00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B23A34"/>
                </a:solidFill>
                <a:latin typeface="Arial"/>
              </a:rPr>
              <a:t>Blind spot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864608"/>
            <a:ext cx="11057839" cy="123444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864608"/>
            <a:ext cx="11057839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513892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1A21"/>
                </a:solidFill>
                <a:latin typeface="Georgia"/>
              </a:rPr>
              <a:t>Page 1 and page 4 look identical to the method — both entropy zero.</a:t>
            </a:r>
          </a:p>
          <a:p>
            <a:pPr>
              <a:spcBef>
                <a:spcPts val="7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One is right, one is wrong. Confident errors are invisible to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A12"/>
                </a:solidFill>
                <a:latin typeface="Arial"/>
              </a:rPr>
              <a:t>METHOD WARNING — THE KEY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The average hid the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Grading task. Same 300 items, split by whether an error was really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77440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SCORED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73168" y="237744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84848" y="2377440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65176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761488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Everything pooled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2761488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23A34"/>
                </a:solidFill>
                <a:latin typeface="Arial"/>
              </a:rPr>
              <a:t>0.520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4848" y="2761488"/>
            <a:ext cx="47548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23A34"/>
                </a:solidFill>
                <a:latin typeface="Arial"/>
              </a:rPr>
              <a:t>looks like chance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55264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328416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Items with an 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328416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7A4B"/>
                </a:solidFill>
                <a:latin typeface="Arial"/>
              </a:rPr>
              <a:t>0.801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3328416"/>
            <a:ext cx="47548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7A4B"/>
                </a:solidFill>
                <a:latin typeface="Arial"/>
              </a:rPr>
              <a:t>works well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822192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95344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Items that are correct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3895344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7A4B"/>
                </a:solidFill>
                <a:latin typeface="Arial"/>
              </a:rPr>
              <a:t>0.280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4848" y="3895344"/>
            <a:ext cx="47548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7A4B"/>
                </a:solidFill>
                <a:latin typeface="Arial"/>
              </a:rPr>
              <a:t>works backwards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38912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617720"/>
            <a:ext cx="11057839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617720"/>
            <a:ext cx="11057839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8920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71A21"/>
                </a:solidFill>
                <a:latin typeface="Georgia"/>
              </a:rPr>
              <a:t>0.80 and 0.28 average out to 0.52.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Both halves are real. Pooling reports neither. Only visible because FERMAT has correct items.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Holds across three model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168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4528" y="201168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28600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39572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Qwen2.5-VL-3B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4528" y="2395728"/>
            <a:ext cx="2194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0.854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98064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87121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Qwen2.5-VL-7B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871216"/>
            <a:ext cx="2194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73552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346704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LLaVA-NeXT-7B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3346704"/>
            <a:ext cx="2194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0.775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74904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79476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4A5260"/>
                </a:solidFill>
                <a:latin typeface="Arial"/>
              </a:rPr>
              <a:t>Confidence intervals overlap. Not a Qwen quirk.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1920240"/>
            <a:ext cx="4754880" cy="27432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0" y="1920240"/>
            <a:ext cx="4754880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22402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9828F"/>
                </a:solidFill>
                <a:latin typeface="Arial"/>
              </a:rPr>
              <a:t>A 4th model looked best</a:t>
            </a:r>
          </a:p>
          <a:p>
            <a:pPr>
              <a:spcBef>
                <a:spcPts val="1000"/>
              </a:spcBef>
            </a:pPr>
            <a:r>
              <a:rPr sz="3000" b="1" i="0">
                <a:solidFill>
                  <a:srgbClr val="B23A34"/>
                </a:solidFill>
                <a:latin typeface="Georgia"/>
              </a:rPr>
              <a:t>0.915</a:t>
            </a:r>
            <a:r>
              <a:rPr sz="2000" b="0" i="0">
                <a:solidFill>
                  <a:srgbClr val="79828F"/>
                </a:solidFill>
                <a:latin typeface="Arial"/>
              </a:rPr>
              <a:t>   →   </a:t>
            </a:r>
            <a:r>
              <a:rPr sz="3000" b="1" i="0">
                <a:solidFill>
                  <a:srgbClr val="171A21"/>
                </a:solidFill>
                <a:latin typeface="Georgia"/>
              </a:rPr>
              <a:t>0.556</a:t>
            </a:r>
          </a:p>
          <a:p>
            <a:pPr>
              <a:spcBef>
                <a:spcPts val="1200"/>
              </a:spcBef>
            </a:pPr>
            <a:r>
              <a:rPr sz="1300" b="0" i="0">
                <a:solidFill>
                  <a:srgbClr val="4A5260"/>
                </a:solidFill>
                <a:latin typeface="Arial"/>
              </a:rPr>
              <a:t>InternVL3. Under the same robustness check, it collapsed to chance — it was producing incoherent output on 2/3 of items.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OPEN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One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828800"/>
            <a:ext cx="5440680" cy="2514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828800"/>
            <a:ext cx="544068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0312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SOLID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Perception signal 0.835, robust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Abstention rule 57/61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Confirmed on 3 model families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Pooled-vs-split: a method contribution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828800"/>
            <a:ext cx="5257800" cy="2514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828800"/>
            <a:ext cx="5257800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47688" y="2103120"/>
            <a:ext cx="46634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A12"/>
                </a:solidFill>
                <a:latin typeface="Arial"/>
              </a:rPr>
              <a:t>LIMITED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Everything sits on one dataset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Both alternatives are 100% error items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…so they cannot test the split at all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On one, the model said “error” while
    saying it could not read the image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617720"/>
            <a:ext cx="11057839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617720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48920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1A21"/>
                </a:solidFill>
                <a:latin typeface="Georgia"/>
              </a:rPr>
              <a:t>Accept one dataset as a limitation — or label correct items ourselves?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~3 weeks to submission. All experiments done; remaining work is the write-up.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