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THE 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FERMAT: handwritten math,
errors planted on purpose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434502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0" y="205740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71A21"/>
                </a:solidFill>
                <a:latin typeface="Arial"/>
              </a:rPr>
              <a:t>~2,200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photographed solutions   ·   </a:t>
            </a:r>
            <a:r>
              <a:rPr sz="1500" b="1" i="0">
                <a:solidFill>
                  <a:srgbClr val="171A21"/>
                </a:solidFill>
                <a:latin typeface="Arial"/>
              </a:rPr>
              <a:t>85%</a:t>
            </a:r>
            <a:r>
              <a:rPr sz="1500" b="0" i="0">
                <a:solidFill>
                  <a:srgbClr val="4A5260"/>
                </a:solidFill>
                <a:latin typeface="Arial"/>
              </a:rPr>
              <a:t> contain a deliberate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2606040"/>
            <a:ext cx="5943600" cy="169164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2606040"/>
            <a:ext cx="5943600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25312" y="2816352"/>
            <a:ext cx="5440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WE TEST TWO SEPARATE TASKS</a:t>
            </a:r>
          </a:p>
          <a:p>
            <a:pPr>
              <a:spcBef>
                <a:spcPts val="900"/>
              </a:spcBef>
            </a:pPr>
            <a:r>
              <a:rPr sz="1400" b="1" i="0">
                <a:solidFill>
                  <a:srgbClr val="171A21"/>
                </a:solidFill>
                <a:latin typeface="Arial"/>
              </a:rPr>
              <a:t>Perception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— read the page. Did it transcribe correctly?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171A21"/>
                </a:solidFill>
                <a:latin typeface="Arial"/>
              </a:rPr>
              <a:t>Reasoning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— grade the page. Did it spot the error correctly?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45720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ONLY FERMAT HAS CORRECT ANSWERS TOO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49194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FERMAT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49194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B7A4B"/>
                </a:solidFill>
                <a:latin typeface="Arial"/>
              </a:rPr>
              <a:t>15% clean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21208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5285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71A21"/>
                </a:solidFill>
                <a:latin typeface="Arial"/>
              </a:rPr>
              <a:t>ErrorRadar  /  ScratchMath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52852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B23A34"/>
                </a:solidFill>
                <a:latin typeface="Arial"/>
              </a:rPr>
              <a:t>no clean items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57784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PERCEPTION — CONFIRMED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When it can't read a page twice the same way, it's wrong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83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Read the same page 5 times. Measure the disagreement.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395728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33088" y="23957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70048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779776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All 300 pages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33088" y="2779776"/>
            <a:ext cx="27432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0.835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[0.787, 0.879]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218688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29184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Hardest cases deleted  (slide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8" y="3291840"/>
            <a:ext cx="27432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0.796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[0.736, 0.852]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730752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803904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The model's own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3088" y="3803904"/>
            <a:ext cx="27432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3A34"/>
                </a:solidFill>
                <a:latin typeface="Arial"/>
              </a:rPr>
              <a:t>0.537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[0.469, 0.605]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242816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224528"/>
            <a:ext cx="5943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4A5260"/>
                </a:solidFill>
                <a:latin typeface="Arial"/>
              </a:rPr>
              <a:t>Row 3's interval crosses 0.50 — the model's own confidence score is no better than a coin flip here.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23760" y="2286000"/>
            <a:ext cx="4389120" cy="22860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23760" y="2286000"/>
            <a:ext cx="438912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16368" y="2606040"/>
            <a:ext cx="3840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71A21"/>
                </a:solidFill>
                <a:latin typeface="Georgia"/>
              </a:rPr>
              <a:t>All 5 readings disagree?</a:t>
            </a:r>
          </a:p>
          <a:p>
            <a:pPr>
              <a:spcBef>
                <a:spcPts val="800"/>
              </a:spcBef>
            </a:pPr>
            <a:r>
              <a:rPr sz="1800" b="1" i="0">
                <a:solidFill>
                  <a:srgbClr val="1B7A4B"/>
                </a:solidFill>
                <a:latin typeface="Georgia"/>
              </a:rPr>
              <a:t>Wrong 57 times out of 61.</a:t>
            </a:r>
          </a:p>
          <a:p>
            <a:pPr>
              <a:spcBef>
                <a:spcPts val="1200"/>
              </a:spcBef>
            </a:pPr>
            <a:r>
              <a:rPr sz="1250" b="0" i="0">
                <a:solidFill>
                  <a:srgbClr val="4A5260"/>
                </a:solidFill>
                <a:latin typeface="Arial"/>
              </a:rPr>
              <a:t>Flag those for a human. Catches 57 real errors, wastes 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perception — reading the page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PERCEPTION —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71A21"/>
                </a:solidFill>
                <a:latin typeface="Georgia"/>
              </a:rPr>
              <a:t>Where it works, and the blind spot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3736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10" y="1883664"/>
            <a:ext cx="1446523" cy="1783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Correct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3456432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56432" y="1737360"/>
            <a:ext cx="2761488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3592" y="2092787"/>
            <a:ext cx="2487168" cy="136483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93592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1B7A4B"/>
                </a:solidFill>
                <a:latin typeface="Arial"/>
              </a:rPr>
              <a:t>Caught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45936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45936" y="1737360"/>
            <a:ext cx="2761488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617" y="1883664"/>
            <a:ext cx="1462125" cy="17830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83096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Disagrees  ·  H = 1.61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9A6A12"/>
                </a:solidFill>
                <a:latin typeface="Arial"/>
              </a:rPr>
              <a:t>False alarm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1737360"/>
            <a:ext cx="2761488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35440" y="1737360"/>
            <a:ext cx="2761488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3959" y="1883664"/>
            <a:ext cx="1444449" cy="17830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372600" y="380390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4A5260"/>
                </a:solidFill>
                <a:latin typeface="Arial"/>
              </a:rPr>
              <a:t>Agrees  ·  H = 0.00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B23A34"/>
                </a:solidFill>
                <a:latin typeface="Arial"/>
              </a:rPr>
              <a:t>Blind spot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617720"/>
            <a:ext cx="11057839" cy="1481328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828032"/>
            <a:ext cx="108356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171A21"/>
                </a:solidFill>
                <a:latin typeface="Georgia"/>
              </a:rPr>
              <a:t>Page 1 and page 4 look identical to the method — both entropy zero. One is right, one is wrong.</a:t>
            </a:r>
          </a:p>
          <a:p>
            <a:pPr>
              <a:spcBef>
                <a:spcPts val="900"/>
              </a:spcBef>
            </a:pPr>
            <a:r>
              <a:rPr sz="1350" b="1" i="0">
                <a:solidFill>
                  <a:srgbClr val="2F5D8C"/>
                </a:solidFill>
                <a:latin typeface="Arial"/>
              </a:rPr>
              <a:t>The robustness check: </a:t>
            </a:r>
            <a:r>
              <a:rPr sz="1350" b="0" i="0">
                <a:solidFill>
                  <a:srgbClr val="4A5260"/>
                </a:solidFill>
                <a:latin typeface="Arial"/>
              </a:rPr>
              <a:t>delete every page where all 5 readings differed — easy to flag, nearly always wrong. If the score survives, the signal is graded. Qwen </a:t>
            </a:r>
            <a:r>
              <a:rPr sz="1350" b="1" i="0">
                <a:solidFill>
                  <a:srgbClr val="1B7A4B"/>
                </a:solidFill>
                <a:latin typeface="Arial"/>
              </a:rPr>
              <a:t>0.835 → 0.794</a:t>
            </a:r>
            <a:r>
              <a:rPr sz="1350" b="0" i="0">
                <a:solidFill>
                  <a:srgbClr val="4A5260"/>
                </a:solidFill>
                <a:latin typeface="Arial"/>
              </a:rPr>
              <a:t>, 239 pages left.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perception — Qwen2.5-VL-3B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REASONING — THE KEY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The average hid the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Different task: the model grades the page. Same 300 pages, split by whether an error was really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23160"/>
            <a:ext cx="39319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SCORED 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98848" y="242316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0688" y="2423160"/>
            <a:ext cx="3749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69748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807208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Everything pooled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2807208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23A34"/>
                </a:solidFill>
                <a:latin typeface="Arial"/>
              </a:rPr>
              <a:t>0.520</a:t>
            </a:r>
            <a:r>
              <a:rPr sz="1250" b="0" i="0">
                <a:solidFill>
                  <a:srgbClr val="79828F"/>
                </a:solidFill>
                <a:latin typeface="Arial"/>
              </a:rPr>
              <a:t>  [0.458, 0.582]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807208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B23A34"/>
                </a:solidFill>
                <a:latin typeface="Arial"/>
              </a:rPr>
              <a:t>looks like chance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00984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374136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Pages with an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3374136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7A4B"/>
                </a:solidFill>
                <a:latin typeface="Arial"/>
              </a:rPr>
              <a:t>0.801</a:t>
            </a:r>
            <a:r>
              <a:rPr sz="1250" b="0" i="0">
                <a:solidFill>
                  <a:srgbClr val="79828F"/>
                </a:solidFill>
                <a:latin typeface="Arial"/>
              </a:rPr>
              <a:t>  [0.751, 0.846]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3374136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7A4B"/>
                </a:solidFill>
                <a:latin typeface="Arial"/>
              </a:rPr>
              <a:t>works well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867912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941064"/>
            <a:ext cx="3931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Pages that are correct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941064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B7A4B"/>
                </a:solidFill>
                <a:latin typeface="Arial"/>
              </a:rPr>
              <a:t>0.280</a:t>
            </a:r>
            <a:r>
              <a:rPr sz="1250" b="0" i="0">
                <a:solidFill>
                  <a:srgbClr val="79828F"/>
                </a:solidFill>
                <a:latin typeface="Arial"/>
              </a:rPr>
              <a:t>  [0.200, 0.366]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90688" y="3941064"/>
            <a:ext cx="374903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B7A4B"/>
                </a:solidFill>
                <a:latin typeface="Arial"/>
              </a:rPr>
              <a:t>works backwards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43484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4617720"/>
            <a:ext cx="11057839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8920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171A21"/>
                </a:solidFill>
                <a:latin typeface="Georgia"/>
              </a:rPr>
              <a:t>0.80 and 0.28 average out to 0.52.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Both halves are real. Pooling reports neither. Only visible because FERMAT has correct pages to separate out.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reasoning — grading the page  ·  Qwen2.5-VL-7B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REASONING — 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Holds across three model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737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4A5260"/>
                </a:solidFill>
                <a:latin typeface="Arial"/>
              </a:rPr>
              <a:t>The 0.80 result above, on pages that contain an error.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32918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34747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79828F"/>
                </a:solidFill>
                <a:latin typeface="Arial"/>
              </a:rPr>
              <a:t>AUROC  (95% CI)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74320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852928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Qwen2.5-VL-3B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2852928"/>
            <a:ext cx="3474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0.854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[0.796, 0.902]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310128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383280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Qwen2.5-VL-7B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768" y="3383280"/>
            <a:ext cx="3474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0.801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[0.751, 0.846]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840480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913632"/>
            <a:ext cx="32918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71A21"/>
                </a:solidFill>
                <a:latin typeface="Arial"/>
              </a:rPr>
              <a:t>LLaVA-NeXT-7B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8768" y="3913632"/>
            <a:ext cx="34747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B7A4B"/>
                </a:solidFill>
                <a:latin typeface="Arial"/>
              </a:rPr>
              <a:t>0.775</a:t>
            </a:r>
            <a:r>
              <a:rPr sz="1150" b="0" i="0">
                <a:solidFill>
                  <a:srgbClr val="79828F"/>
                </a:solidFill>
                <a:latin typeface="Arial"/>
              </a:rPr>
              <a:t>  [0.694, 0.848]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370832"/>
            <a:ext cx="11057839" cy="9525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572000"/>
            <a:ext cx="11057839" cy="123444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4572000"/>
            <a:ext cx="11057839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84632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71A21"/>
                </a:solidFill>
                <a:latin typeface="Georgia"/>
              </a:rPr>
              <a:t>Three independently built models. Intervals overlap.</a:t>
            </a:r>
          </a:p>
          <a:p>
            <a:pPr>
              <a:spcBef>
                <a:spcPts val="7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Not a quirk of one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reasoning — grading the page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23A34"/>
                </a:solidFill>
                <a:latin typeface="Arial"/>
              </a:rPr>
              <a:t>WHAT DID NOT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Two results we had to throw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74519"/>
            <a:ext cx="5440680" cy="32004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74519"/>
            <a:ext cx="5440680" cy="41148"/>
          </a:xfrm>
          <a:prstGeom prst="rect">
            <a:avLst/>
          </a:prstGeom>
          <a:solidFill>
            <a:srgbClr val="B2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03120"/>
            <a:ext cx="484632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A 4TH MODEL, PERCEPTION</a:t>
            </a:r>
          </a:p>
          <a:p>
            <a:pPr>
              <a:spcBef>
                <a:spcPts val="900"/>
              </a:spcBef>
            </a:pPr>
            <a:r>
              <a:rPr sz="2700" b="1" i="0">
                <a:solidFill>
                  <a:srgbClr val="B23A34"/>
                </a:solidFill>
                <a:latin typeface="Georgia"/>
              </a:rPr>
              <a:t>0.915</a:t>
            </a:r>
            <a:r>
              <a:rPr sz="1800" b="0" i="0">
                <a:solidFill>
                  <a:srgbClr val="79828F"/>
                </a:solidFill>
                <a:latin typeface="Arial"/>
              </a:rPr>
              <a:t>  →  </a:t>
            </a:r>
            <a:r>
              <a:rPr sz="2700" b="1" i="0">
                <a:solidFill>
                  <a:srgbClr val="171A21"/>
                </a:solidFill>
                <a:latin typeface="Georgia"/>
              </a:rPr>
              <a:t>0.556</a:t>
            </a:r>
          </a:p>
          <a:p>
            <a:pPr>
              <a:spcBef>
                <a:spcPts val="11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InternVL3 looked like our best result. Under the robustness check it collapsed to chance — </a:t>
            </a:r>
            <a:r>
              <a:rPr sz="1350" b="1" i="0">
                <a:solidFill>
                  <a:srgbClr val="171A21"/>
                </a:solidFill>
                <a:latin typeface="Arial"/>
              </a:rPr>
              <a:t>2 of every 3 pages were total breakdowns</a:t>
            </a:r>
            <a:r>
              <a:rPr sz="1350" b="0" i="0">
                <a:solidFill>
                  <a:srgbClr val="4A5260"/>
                </a:solidFill>
                <a:latin typeface="Arial"/>
              </a:rPr>
              <a:t>, and that binary was all the score was detecting.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874519"/>
            <a:ext cx="5257800" cy="32004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874519"/>
            <a:ext cx="5257800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2103120"/>
            <a:ext cx="470916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79828F"/>
                </a:solidFill>
                <a:latin typeface="Arial"/>
              </a:rPr>
              <a:t>A 2ND DATASET, REASONING</a:t>
            </a:r>
          </a:p>
          <a:p>
            <a:pPr>
              <a:spcBef>
                <a:spcPts val="900"/>
              </a:spcBef>
            </a:pPr>
            <a:r>
              <a:rPr sz="2700" b="1" i="0">
                <a:solidFill>
                  <a:srgbClr val="9A6A12"/>
                </a:solidFill>
                <a:latin typeface="Georgia"/>
              </a:rPr>
              <a:t>96%</a:t>
            </a:r>
            <a:r>
              <a:rPr sz="1400" b="0" i="0">
                <a:solidFill>
                  <a:srgbClr val="4A5260"/>
                </a:solidFill>
                <a:latin typeface="Arial"/>
              </a:rPr>
              <a:t>  accuracy, and meaningless</a:t>
            </a:r>
          </a:p>
          <a:p>
            <a:pPr>
              <a:spcBef>
                <a:spcPts val="11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ScratchMath, 100 pages. Every page contains an error, and the model answers “error” 90% of the time — so it scores well by construction.</a:t>
            </a:r>
          </a:p>
          <a:p>
            <a:pPr>
              <a:spcBef>
                <a:spcPts val="800"/>
              </a:spcBef>
            </a:pPr>
            <a:r>
              <a:rPr sz="1350" b="1" i="0">
                <a:solidFill>
                  <a:srgbClr val="171A21"/>
                </a:solidFill>
                <a:latin typeface="Arial"/>
              </a:rPr>
              <a:t>In 24% of readings it said it could not read the image. It answered “error” anyway in 82% of those.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5285232"/>
            <a:ext cx="11057839" cy="86868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285232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5468112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171A21"/>
                </a:solidFill>
                <a:latin typeface="Georgia"/>
              </a:rPr>
              <a:t>Both were caught by checks we run on every number — which is why the results on the earlier slides can be trusted.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InternVL3 on FERMAT  ·  Qwen2.5-VL-7B on ScratchMath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D8C"/>
                </a:solidFill>
                <a:latin typeface="Arial"/>
              </a:rPr>
              <a:t>OPEN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100" b="1" i="0">
                <a:solidFill>
                  <a:srgbClr val="171A21"/>
                </a:solidFill>
                <a:latin typeface="Georgia"/>
              </a:rPr>
              <a:t>One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828800"/>
            <a:ext cx="544068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828800"/>
            <a:ext cx="5440680" cy="41148"/>
          </a:xfrm>
          <a:prstGeom prst="rect">
            <a:avLst/>
          </a:prstGeom>
          <a:solidFill>
            <a:srgbClr val="1B7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10312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B7A4B"/>
                </a:solidFill>
                <a:latin typeface="Arial"/>
              </a:rPr>
              <a:t>SOLID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Perception: 0.835, survives every check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Abstention rule: 57 of 61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Reasoning: confirmed on 3 model families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Pooled-vs-split: a method contribution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5080" y="1828800"/>
            <a:ext cx="5257800" cy="2514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828800"/>
            <a:ext cx="5257800" cy="41148"/>
          </a:xfrm>
          <a:prstGeom prst="rect">
            <a:avLst/>
          </a:prstGeom>
          <a:solidFill>
            <a:srgbClr val="9A6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47688" y="2103120"/>
            <a:ext cx="46634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A6A12"/>
                </a:solidFill>
                <a:latin typeface="Arial"/>
              </a:rPr>
              <a:t>LIMITED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Every result sits on FERMAT alone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Both alternative datasets are 100%
    error items</a:t>
            </a:r>
          </a:p>
          <a:p>
            <a:pPr>
              <a:spcBef>
                <a:spcPts val="900"/>
              </a:spcBef>
            </a:pPr>
            <a:r>
              <a:rPr sz="1350" b="0" i="0">
                <a:solidFill>
                  <a:srgbClr val="171A21"/>
                </a:solidFill>
                <a:latin typeface="Arial"/>
              </a:rPr>
              <a:t>— …so neither can test the split on
    slide 4 at all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4617720"/>
            <a:ext cx="11057839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617720"/>
            <a:ext cx="11057839" cy="41148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48920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171A21"/>
                </a:solidFill>
                <a:latin typeface="Georgia"/>
              </a:rPr>
              <a:t>Accept one dataset as a limitation — or label correct pages ourselves?</a:t>
            </a:r>
          </a:p>
          <a:p>
            <a:pPr>
              <a:spcBef>
                <a:spcPts val="800"/>
              </a:spcBef>
            </a:pPr>
            <a:r>
              <a:rPr sz="1350" b="0" i="0">
                <a:solidFill>
                  <a:srgbClr val="4A5260"/>
                </a:solidFill>
                <a:latin typeface="Arial"/>
              </a:rPr>
              <a:t>~3 weeks to submission. All experiments done; remaining work is the write-up.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64224"/>
            <a:ext cx="8229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F5D8C"/>
                </a:solidFill>
                <a:latin typeface="Arial"/>
              </a:rPr>
              <a:t>FERMAT</a:t>
            </a:r>
            <a:r>
              <a:rPr sz="1000" b="0" i="0">
                <a:solidFill>
                  <a:srgbClr val="DDE2EA"/>
                </a:solidFill>
                <a:latin typeface="Arial"/>
              </a:rPr>
              <a:t>   ·   </a:t>
            </a:r>
            <a:r>
              <a:rPr sz="1000" b="0" i="0">
                <a:solidFill>
                  <a:srgbClr val="79828F"/>
                </a:solidFill>
                <a:latin typeface="Arial"/>
              </a:rPr>
              <a:t>both tasks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27487" y="63825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9828F"/>
                </a:solidFill>
                <a:latin typeface="Arial"/>
              </a:rPr>
              <a:t>7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