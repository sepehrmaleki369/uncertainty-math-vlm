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F5D8C"/>
                </a:solidFill>
                <a:latin typeface="Arial"/>
              </a:rPr>
              <a:t>THE DATASET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 i="0">
                <a:solidFill>
                  <a:srgbClr val="171A21"/>
                </a:solidFill>
                <a:latin typeface="Georgia"/>
              </a:rPr>
              <a:t>FERMAT: handwritten math,
errors planted on purpose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103120"/>
            <a:ext cx="4345021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0" y="2057400"/>
            <a:ext cx="5943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71A21"/>
                </a:solidFill>
                <a:latin typeface="Arial"/>
              </a:rPr>
              <a:t>~2,200</a:t>
            </a:r>
            <a:r>
              <a:rPr sz="1500" b="0" i="0">
                <a:solidFill>
                  <a:srgbClr val="4A5260"/>
                </a:solidFill>
                <a:latin typeface="Arial"/>
              </a:rPr>
              <a:t> photographed solutions   ·   </a:t>
            </a:r>
            <a:r>
              <a:rPr sz="1500" b="1" i="0">
                <a:solidFill>
                  <a:srgbClr val="171A21"/>
                </a:solidFill>
                <a:latin typeface="Arial"/>
              </a:rPr>
              <a:t>85%</a:t>
            </a:r>
            <a:r>
              <a:rPr sz="1500" b="0" i="0">
                <a:solidFill>
                  <a:srgbClr val="4A5260"/>
                </a:solidFill>
                <a:latin typeface="Arial"/>
              </a:rPr>
              <a:t> contain a deliberate error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0" y="2606040"/>
            <a:ext cx="5943600" cy="1691640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2606040"/>
            <a:ext cx="5943600" cy="41148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25312" y="2816352"/>
            <a:ext cx="54406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F5D8C"/>
                </a:solidFill>
                <a:latin typeface="Arial"/>
              </a:rPr>
              <a:t>WE TEST TWO SEPARATE TASKS</a:t>
            </a:r>
          </a:p>
          <a:p>
            <a:pPr>
              <a:spcBef>
                <a:spcPts val="900"/>
              </a:spcBef>
            </a:pPr>
            <a:r>
              <a:rPr sz="1400" b="1" i="0">
                <a:solidFill>
                  <a:srgbClr val="171A21"/>
                </a:solidFill>
                <a:latin typeface="Arial"/>
              </a:rPr>
              <a:t>Perception</a:t>
            </a:r>
            <a:r>
              <a:rPr sz="1400" b="0" i="0">
                <a:solidFill>
                  <a:srgbClr val="4A5260"/>
                </a:solidFill>
                <a:latin typeface="Arial"/>
              </a:rPr>
              <a:t> — read the page. Did it transcribe correctly?</a:t>
            </a:r>
          </a:p>
          <a:p>
            <a:pPr>
              <a:spcBef>
                <a:spcPts val="600"/>
              </a:spcBef>
            </a:pPr>
            <a:r>
              <a:rPr sz="1400" b="1" i="0">
                <a:solidFill>
                  <a:srgbClr val="171A21"/>
                </a:solidFill>
                <a:latin typeface="Arial"/>
              </a:rPr>
              <a:t>Reasoning</a:t>
            </a:r>
            <a:r>
              <a:rPr sz="1400" b="0" i="0">
                <a:solidFill>
                  <a:srgbClr val="4A5260"/>
                </a:solidFill>
                <a:latin typeface="Arial"/>
              </a:rPr>
              <a:t> — grade the page. Did it spot the error correctly?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45720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9828F"/>
                </a:solidFill>
                <a:latin typeface="Arial"/>
              </a:rPr>
              <a:t>ONLY FERMAT HAS CORRECT ANSWERS TOO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0" y="491947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71A21"/>
                </a:solidFill>
                <a:latin typeface="Arial"/>
              </a:rPr>
              <a:t>FERMAT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0" y="491947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B7A4B"/>
                </a:solidFill>
                <a:latin typeface="Arial"/>
              </a:rPr>
              <a:t>15% clean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5212080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528523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71A21"/>
                </a:solidFill>
                <a:latin typeface="Arial"/>
              </a:rPr>
              <a:t>ErrorRadar  /  ScratchMath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0" y="528523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B23A34"/>
                </a:solidFill>
                <a:latin typeface="Arial"/>
              </a:rPr>
              <a:t>no clean items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5577840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6364224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F5D8C"/>
                </a:solidFill>
                <a:latin typeface="Arial"/>
              </a:rPr>
              <a:t>FERMAT</a:t>
            </a:r>
            <a:r>
              <a:rPr sz="1000" b="0" i="0">
                <a:solidFill>
                  <a:srgbClr val="DDE2EA"/>
                </a:solidFill>
                <a:latin typeface="Arial"/>
              </a:rPr>
              <a:t>   ·   </a:t>
            </a:r>
            <a:r>
              <a:rPr sz="1000" b="0" i="0">
                <a:solidFill>
                  <a:srgbClr val="79828F"/>
                </a:solidFill>
                <a:latin typeface="Arial"/>
              </a:rPr>
              <a:t>setup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27487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9828F"/>
                </a:solidFill>
                <a:latin typeface="Arial"/>
              </a:rPr>
              <a:t>1 /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B7A4B"/>
                </a:solidFill>
                <a:latin typeface="Arial"/>
              </a:rPr>
              <a:t>PERCEPTION — CONFIRMED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 i="0">
                <a:solidFill>
                  <a:srgbClr val="171A21"/>
                </a:solidFill>
                <a:latin typeface="Georgia"/>
              </a:rPr>
              <a:t>When it can't read a page twice the same way, it's wrong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783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4A5260"/>
                </a:solidFill>
                <a:latin typeface="Arial"/>
              </a:rPr>
              <a:t>Read the same page 5 times. Measure the disagreement.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395728"/>
            <a:ext cx="3566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79828F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33088" y="2395728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79828F"/>
                </a:solidFill>
                <a:latin typeface="Arial"/>
              </a:rPr>
              <a:t>AUROC  (95% CI)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670048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779776"/>
            <a:ext cx="35661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71A21"/>
                </a:solidFill>
                <a:latin typeface="Arial"/>
              </a:rPr>
              <a:t>All 300 pages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33088" y="2779776"/>
            <a:ext cx="27432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B7A4B"/>
                </a:solidFill>
                <a:latin typeface="Arial"/>
              </a:rPr>
              <a:t>0.835</a:t>
            </a:r>
            <a:r>
              <a:rPr sz="1150" b="0" i="0">
                <a:solidFill>
                  <a:srgbClr val="79828F"/>
                </a:solidFill>
                <a:latin typeface="Arial"/>
              </a:rPr>
              <a:t>  [0.787, 0.879]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218688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291840"/>
            <a:ext cx="35661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71A21"/>
                </a:solidFill>
                <a:latin typeface="Arial"/>
              </a:rPr>
              <a:t>Hardest cases deleted  (slide 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33088" y="3291840"/>
            <a:ext cx="27432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B7A4B"/>
                </a:solidFill>
                <a:latin typeface="Arial"/>
              </a:rPr>
              <a:t>0.796</a:t>
            </a:r>
            <a:r>
              <a:rPr sz="1150" b="0" i="0">
                <a:solidFill>
                  <a:srgbClr val="79828F"/>
                </a:solidFill>
                <a:latin typeface="Arial"/>
              </a:rPr>
              <a:t>  [0.736, 0.852]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730752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3803904"/>
            <a:ext cx="35661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71A21"/>
                </a:solidFill>
                <a:latin typeface="Arial"/>
              </a:rPr>
              <a:t>The model's own confidence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33088" y="3803904"/>
            <a:ext cx="27432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B23A34"/>
                </a:solidFill>
                <a:latin typeface="Arial"/>
              </a:rPr>
              <a:t>0.537</a:t>
            </a:r>
            <a:r>
              <a:rPr sz="1150" b="0" i="0">
                <a:solidFill>
                  <a:srgbClr val="79828F"/>
                </a:solidFill>
                <a:latin typeface="Arial"/>
              </a:rPr>
              <a:t>  [0.469, 0.605]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4242816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4224528"/>
            <a:ext cx="5943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4A5260"/>
                </a:solidFill>
                <a:latin typeface="Arial"/>
              </a:rPr>
              <a:t>Row 3's interval crosses 0.50 — the model's own confidence score is no better than a coin flip here.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23760" y="2286000"/>
            <a:ext cx="4389120" cy="2286000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223760" y="2286000"/>
            <a:ext cx="4389120" cy="41148"/>
          </a:xfrm>
          <a:prstGeom prst="rect">
            <a:avLst/>
          </a:prstGeom>
          <a:solidFill>
            <a:srgbClr val="1B7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16368" y="2606040"/>
            <a:ext cx="38404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71A21"/>
                </a:solidFill>
                <a:latin typeface="Georgia"/>
              </a:rPr>
              <a:t>All 5 readings disagree?</a:t>
            </a:r>
          </a:p>
          <a:p>
            <a:pPr>
              <a:spcBef>
                <a:spcPts val="800"/>
              </a:spcBef>
            </a:pPr>
            <a:r>
              <a:rPr sz="1800" b="1" i="0">
                <a:solidFill>
                  <a:srgbClr val="1B7A4B"/>
                </a:solidFill>
                <a:latin typeface="Georgia"/>
              </a:rPr>
              <a:t>Wrong 57 times out of 61.</a:t>
            </a:r>
          </a:p>
          <a:p>
            <a:pPr>
              <a:spcBef>
                <a:spcPts val="1200"/>
              </a:spcBef>
            </a:pPr>
            <a:r>
              <a:rPr sz="1250" b="0" i="0">
                <a:solidFill>
                  <a:srgbClr val="4A5260"/>
                </a:solidFill>
                <a:latin typeface="Arial"/>
              </a:rPr>
              <a:t>Flag those for a human. Catches 57 real errors, wastes 4.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364224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F5D8C"/>
                </a:solidFill>
                <a:latin typeface="Arial"/>
              </a:rPr>
              <a:t>FERMAT</a:t>
            </a:r>
            <a:r>
              <a:rPr sz="1000" b="0" i="0">
                <a:solidFill>
                  <a:srgbClr val="DDE2EA"/>
                </a:solidFill>
                <a:latin typeface="Arial"/>
              </a:rPr>
              <a:t>   ·   </a:t>
            </a:r>
            <a:r>
              <a:rPr sz="1000" b="0" i="0">
                <a:solidFill>
                  <a:srgbClr val="79828F"/>
                </a:solidFill>
                <a:latin typeface="Arial"/>
              </a:rPr>
              <a:t>perception — reading the page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27487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9828F"/>
                </a:solidFill>
                <a:latin typeface="Arial"/>
              </a:rPr>
              <a:t>2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F5D8C"/>
                </a:solidFill>
                <a:latin typeface="Arial"/>
              </a:rPr>
              <a:t>PERCEPTION —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71A21"/>
                </a:solidFill>
                <a:latin typeface="Georgia"/>
              </a:rPr>
              <a:t>Where it works, and the blind spot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737360"/>
            <a:ext cx="2761488" cy="269748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37360"/>
            <a:ext cx="2761488" cy="41148"/>
          </a:xfrm>
          <a:prstGeom prst="rect">
            <a:avLst/>
          </a:prstGeom>
          <a:solidFill>
            <a:srgbClr val="1B7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4410" y="1883664"/>
            <a:ext cx="1446523" cy="1783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04088" y="3803904"/>
            <a:ext cx="248716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260"/>
                </a:solidFill>
                <a:latin typeface="Arial"/>
              </a:rPr>
              <a:t>Agrees  ·  H = 0.00</a:t>
            </a:r>
          </a:p>
          <a:p>
            <a:pPr>
              <a:spcBef>
                <a:spcPts val="200"/>
              </a:spcBef>
            </a:pPr>
            <a:r>
              <a:rPr sz="1300" b="1" i="0">
                <a:solidFill>
                  <a:srgbClr val="1B7A4B"/>
                </a:solidFill>
                <a:latin typeface="Arial"/>
              </a:rPr>
              <a:t>Correct</a:t>
            </a:r>
          </a:p>
        </p:txBody>
      </p:sp>
      <p:sp>
        <p:nvSpPr>
          <p:cNvPr id="8" name="Rectangle 7"/>
          <p:cNvSpPr/>
          <p:nvPr/>
        </p:nvSpPr>
        <p:spPr>
          <a:xfrm>
            <a:off x="3456432" y="1737360"/>
            <a:ext cx="2761488" cy="269748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56432" y="1737360"/>
            <a:ext cx="2761488" cy="41148"/>
          </a:xfrm>
          <a:prstGeom prst="rect">
            <a:avLst/>
          </a:prstGeom>
          <a:solidFill>
            <a:srgbClr val="1B7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3592" y="2092787"/>
            <a:ext cx="2487168" cy="136483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593592" y="3803904"/>
            <a:ext cx="248716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260"/>
                </a:solidFill>
                <a:latin typeface="Arial"/>
              </a:rPr>
              <a:t>Disagrees  ·  H = 1.61</a:t>
            </a:r>
          </a:p>
          <a:p>
            <a:pPr>
              <a:spcBef>
                <a:spcPts val="200"/>
              </a:spcBef>
            </a:pPr>
            <a:r>
              <a:rPr sz="1300" b="1" i="0">
                <a:solidFill>
                  <a:srgbClr val="1B7A4B"/>
                </a:solidFill>
                <a:latin typeface="Arial"/>
              </a:rPr>
              <a:t>Caught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45936" y="1737360"/>
            <a:ext cx="2761488" cy="269748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45936" y="1737360"/>
            <a:ext cx="2761488" cy="41148"/>
          </a:xfrm>
          <a:prstGeom prst="rect">
            <a:avLst/>
          </a:prstGeom>
          <a:solidFill>
            <a:srgbClr val="9A6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5617" y="1883664"/>
            <a:ext cx="1462125" cy="17830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483096" y="3803904"/>
            <a:ext cx="248716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260"/>
                </a:solidFill>
                <a:latin typeface="Arial"/>
              </a:rPr>
              <a:t>Disagrees  ·  H = 1.61</a:t>
            </a:r>
          </a:p>
          <a:p>
            <a:pPr>
              <a:spcBef>
                <a:spcPts val="200"/>
              </a:spcBef>
            </a:pPr>
            <a:r>
              <a:rPr sz="1300" b="1" i="0">
                <a:solidFill>
                  <a:srgbClr val="9A6A12"/>
                </a:solidFill>
                <a:latin typeface="Arial"/>
              </a:rPr>
              <a:t>False alarm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35440" y="1737360"/>
            <a:ext cx="2761488" cy="269748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235440" y="1737360"/>
            <a:ext cx="2761488" cy="41148"/>
          </a:xfrm>
          <a:prstGeom prst="rect">
            <a:avLst/>
          </a:prstGeom>
          <a:solidFill>
            <a:srgbClr val="B23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93959" y="1883664"/>
            <a:ext cx="1444449" cy="17830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372600" y="3803904"/>
            <a:ext cx="248716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260"/>
                </a:solidFill>
                <a:latin typeface="Arial"/>
              </a:rPr>
              <a:t>Agrees  ·  H = 0.00</a:t>
            </a:r>
          </a:p>
          <a:p>
            <a:pPr>
              <a:spcBef>
                <a:spcPts val="200"/>
              </a:spcBef>
            </a:pPr>
            <a:r>
              <a:rPr sz="1300" b="1" i="0">
                <a:solidFill>
                  <a:srgbClr val="B23A34"/>
                </a:solidFill>
                <a:latin typeface="Arial"/>
              </a:rPr>
              <a:t>Blind spot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4617720"/>
            <a:ext cx="11057839" cy="1481328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4617720"/>
            <a:ext cx="11057839" cy="41148"/>
          </a:xfrm>
          <a:prstGeom prst="rect">
            <a:avLst/>
          </a:prstGeom>
          <a:solidFill>
            <a:srgbClr val="B23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4828032"/>
            <a:ext cx="1083564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71A21"/>
                </a:solidFill>
                <a:latin typeface="Georgia"/>
              </a:rPr>
              <a:t>Page 1 and page 4 look identical to the method — both entropy zero. One is right, one is wrong.</a:t>
            </a:r>
          </a:p>
          <a:p>
            <a:pPr>
              <a:spcBef>
                <a:spcPts val="900"/>
              </a:spcBef>
            </a:pPr>
            <a:r>
              <a:rPr sz="1350" b="1" i="0">
                <a:solidFill>
                  <a:srgbClr val="2F5D8C"/>
                </a:solidFill>
                <a:latin typeface="Arial"/>
              </a:rPr>
              <a:t>The robustness check: </a:t>
            </a:r>
            <a:r>
              <a:rPr sz="1350" b="0" i="0">
                <a:solidFill>
                  <a:srgbClr val="4A5260"/>
                </a:solidFill>
                <a:latin typeface="Arial"/>
              </a:rPr>
              <a:t>delete every page where all 5 readings differed — easy to flag, nearly always wrong. If the score survives, the signal is graded. Qwen </a:t>
            </a:r>
            <a:r>
              <a:rPr sz="1350" b="1" i="0">
                <a:solidFill>
                  <a:srgbClr val="1B7A4B"/>
                </a:solidFill>
                <a:latin typeface="Arial"/>
              </a:rPr>
              <a:t>0.835 → 0.794</a:t>
            </a:r>
            <a:r>
              <a:rPr sz="1350" b="0" i="0">
                <a:solidFill>
                  <a:srgbClr val="4A5260"/>
                </a:solidFill>
                <a:latin typeface="Arial"/>
              </a:rPr>
              <a:t>, 239 pages left.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364224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F5D8C"/>
                </a:solidFill>
                <a:latin typeface="Arial"/>
              </a:rPr>
              <a:t>FERMAT</a:t>
            </a:r>
            <a:r>
              <a:rPr sz="1000" b="0" i="0">
                <a:solidFill>
                  <a:srgbClr val="DDE2EA"/>
                </a:solidFill>
                <a:latin typeface="Arial"/>
              </a:rPr>
              <a:t>   ·   </a:t>
            </a:r>
            <a:r>
              <a:rPr sz="1000" b="0" i="0">
                <a:solidFill>
                  <a:srgbClr val="79828F"/>
                </a:solidFill>
                <a:latin typeface="Arial"/>
              </a:rPr>
              <a:t>perception — Qwen2.5-VL-3B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27487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9828F"/>
                </a:solidFill>
                <a:latin typeface="Arial"/>
              </a:rPr>
              <a:t>3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A6A12"/>
                </a:solidFill>
                <a:latin typeface="Arial"/>
              </a:rPr>
              <a:t>REASONING — THE KEY FINDING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 i="0">
                <a:solidFill>
                  <a:srgbClr val="171A21"/>
                </a:solidFill>
                <a:latin typeface="Georgia"/>
              </a:rPr>
              <a:t>The average hid the finding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45920"/>
            <a:ext cx="106984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4A5260"/>
                </a:solidFill>
                <a:latin typeface="Arial"/>
              </a:rPr>
              <a:t>Different task. The model is asked only: </a:t>
            </a:r>
            <a:r>
              <a:rPr sz="1500" b="0" i="1">
                <a:solidFill>
                  <a:srgbClr val="171A21"/>
                </a:solidFill>
                <a:latin typeface="Arial"/>
              </a:rPr>
              <a:t>“analyze the Answer to determine whether there is any error.”</a:t>
            </a:r>
            <a:r>
              <a:rPr sz="1500" b="0" i="0">
                <a:solidFill>
                  <a:srgbClr val="4A5260"/>
                </a:solidFill>
                <a:latin typeface="Arial"/>
              </a:rPr>
              <a:t>  It is never shown the correct answer.</a:t>
            </a:r>
          </a:p>
          <a:p>
            <a:pPr>
              <a:spcBef>
                <a:spcPts val="500"/>
              </a:spcBef>
            </a:pPr>
            <a:r>
              <a:rPr sz="1500" b="0" i="0">
                <a:solidFill>
                  <a:srgbClr val="4A5260"/>
                </a:solidFill>
                <a:latin typeface="Arial"/>
              </a:rPr>
              <a:t>Same 300 pages, split by whether an error was really there.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606040"/>
            <a:ext cx="3931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79828F"/>
                </a:solidFill>
                <a:latin typeface="Arial"/>
              </a:rPr>
              <a:t>SCORED 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98848" y="2606040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79828F"/>
                </a:solidFill>
                <a:latin typeface="Arial"/>
              </a:rPr>
              <a:t>AUROC  (95% CI)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90688" y="2606040"/>
            <a:ext cx="37490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79828F"/>
                </a:solidFill>
                <a:latin typeface="Arial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880360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990088"/>
            <a:ext cx="3931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71A21"/>
                </a:solidFill>
                <a:latin typeface="Arial"/>
              </a:rPr>
              <a:t>Everything pooled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98848" y="2990088"/>
            <a:ext cx="32918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B23A34"/>
                </a:solidFill>
                <a:latin typeface="Arial"/>
              </a:rPr>
              <a:t>0.520</a:t>
            </a:r>
            <a:r>
              <a:rPr sz="1250" b="0" i="0">
                <a:solidFill>
                  <a:srgbClr val="79828F"/>
                </a:solidFill>
                <a:latin typeface="Arial"/>
              </a:rPr>
              <a:t>  [0.458, 0.582]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90688" y="2990088"/>
            <a:ext cx="37490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B23A34"/>
                </a:solidFill>
                <a:latin typeface="Arial"/>
              </a:rPr>
              <a:t>looks like chance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3483864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3557016"/>
            <a:ext cx="3931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71A21"/>
                </a:solidFill>
                <a:latin typeface="Arial"/>
              </a:rPr>
              <a:t>Pages with an error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8848" y="3557016"/>
            <a:ext cx="32918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B7A4B"/>
                </a:solidFill>
                <a:latin typeface="Arial"/>
              </a:rPr>
              <a:t>0.801</a:t>
            </a:r>
            <a:r>
              <a:rPr sz="1250" b="0" i="0">
                <a:solidFill>
                  <a:srgbClr val="79828F"/>
                </a:solidFill>
                <a:latin typeface="Arial"/>
              </a:rPr>
              <a:t>  [0.751, 0.846]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90688" y="3557016"/>
            <a:ext cx="37490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B7A4B"/>
                </a:solidFill>
                <a:latin typeface="Arial"/>
              </a:rPr>
              <a:t>works well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4050792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4123944"/>
            <a:ext cx="3931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71A21"/>
                </a:solidFill>
                <a:latin typeface="Arial"/>
              </a:rPr>
              <a:t>Pages that are correct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98848" y="4123944"/>
            <a:ext cx="32918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B7A4B"/>
                </a:solidFill>
                <a:latin typeface="Arial"/>
              </a:rPr>
              <a:t>0.280</a:t>
            </a:r>
            <a:r>
              <a:rPr sz="1250" b="0" i="0">
                <a:solidFill>
                  <a:srgbClr val="79828F"/>
                </a:solidFill>
                <a:latin typeface="Arial"/>
              </a:rPr>
              <a:t>  [0.200, 0.366]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90688" y="4123944"/>
            <a:ext cx="37490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B7A4B"/>
                </a:solidFill>
                <a:latin typeface="Arial"/>
              </a:rPr>
              <a:t>works backwards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4617720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4709160"/>
            <a:ext cx="11057839" cy="1298448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709160"/>
            <a:ext cx="11057839" cy="41148"/>
          </a:xfrm>
          <a:prstGeom prst="rect">
            <a:avLst/>
          </a:prstGeom>
          <a:solidFill>
            <a:srgbClr val="B23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4956048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71A21"/>
                </a:solidFill>
                <a:latin typeface="Georgia"/>
              </a:rPr>
              <a:t>0.80 and 0.28 average out to 0.52.</a:t>
            </a:r>
          </a:p>
          <a:p>
            <a:pPr>
              <a:spcBef>
                <a:spcPts val="800"/>
              </a:spcBef>
            </a:pPr>
            <a:r>
              <a:rPr sz="1350" b="0" i="0">
                <a:solidFill>
                  <a:srgbClr val="4A5260"/>
                </a:solidFill>
                <a:latin typeface="Arial"/>
              </a:rPr>
              <a:t>Both halves are real. Pooling reports neither. Only visible because FERMAT has correct pages to separate out.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364224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F5D8C"/>
                </a:solidFill>
                <a:latin typeface="Arial"/>
              </a:rPr>
              <a:t>FERMAT</a:t>
            </a:r>
            <a:r>
              <a:rPr sz="1000" b="0" i="0">
                <a:solidFill>
                  <a:srgbClr val="DDE2EA"/>
                </a:solidFill>
                <a:latin typeface="Arial"/>
              </a:rPr>
              <a:t>   ·   </a:t>
            </a:r>
            <a:r>
              <a:rPr sz="1000" b="0" i="0">
                <a:solidFill>
                  <a:srgbClr val="79828F"/>
                </a:solidFill>
                <a:latin typeface="Arial"/>
              </a:rPr>
              <a:t>reasoning — grading the page  ·  Qwen2.5-VL-7B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27487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9828F"/>
                </a:solidFill>
                <a:latin typeface="Arial"/>
              </a:rPr>
              <a:t>4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B7A4B"/>
                </a:solidFill>
                <a:latin typeface="Arial"/>
              </a:rPr>
              <a:t>REASONING — REPLICATION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 i="0">
                <a:solidFill>
                  <a:srgbClr val="171A21"/>
                </a:solidFill>
                <a:latin typeface="Georgia"/>
              </a:rPr>
              <a:t>Holds across three model families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7373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4A5260"/>
                </a:solidFill>
                <a:latin typeface="Arial"/>
              </a:rPr>
              <a:t>The 0.80 result above, on pages that contain an error.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468880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79828F"/>
                </a:solidFill>
                <a:latin typeface="Arial"/>
              </a:rPr>
              <a:t>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58768" y="2468880"/>
            <a:ext cx="3474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79828F"/>
                </a:solidFill>
                <a:latin typeface="Arial"/>
              </a:rPr>
              <a:t>AUROC  (95% CI)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743200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852928"/>
            <a:ext cx="329184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71A21"/>
                </a:solidFill>
                <a:latin typeface="Arial"/>
              </a:rPr>
              <a:t>Qwen2.5-VL-3B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58768" y="2852928"/>
            <a:ext cx="34747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B7A4B"/>
                </a:solidFill>
                <a:latin typeface="Arial"/>
              </a:rPr>
              <a:t>0.854</a:t>
            </a:r>
            <a:r>
              <a:rPr sz="1150" b="0" i="0">
                <a:solidFill>
                  <a:srgbClr val="79828F"/>
                </a:solidFill>
                <a:latin typeface="Arial"/>
              </a:rPr>
              <a:t>  [0.796, 0.902]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310128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383280"/>
            <a:ext cx="329184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71A21"/>
                </a:solidFill>
                <a:latin typeface="Arial"/>
              </a:rPr>
              <a:t>Qwen2.5-VL-7B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58768" y="3383280"/>
            <a:ext cx="34747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B7A4B"/>
                </a:solidFill>
                <a:latin typeface="Arial"/>
              </a:rPr>
              <a:t>0.801</a:t>
            </a:r>
            <a:r>
              <a:rPr sz="1150" b="0" i="0">
                <a:solidFill>
                  <a:srgbClr val="79828F"/>
                </a:solidFill>
                <a:latin typeface="Arial"/>
              </a:rPr>
              <a:t>  [0.751, 0.846]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840480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3913632"/>
            <a:ext cx="329184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71A21"/>
                </a:solidFill>
                <a:latin typeface="Arial"/>
              </a:rPr>
              <a:t>LLaVA-NeXT-7B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58768" y="3913632"/>
            <a:ext cx="34747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B7A4B"/>
                </a:solidFill>
                <a:latin typeface="Arial"/>
              </a:rPr>
              <a:t>0.775</a:t>
            </a:r>
            <a:r>
              <a:rPr sz="1150" b="0" i="0">
                <a:solidFill>
                  <a:srgbClr val="79828F"/>
                </a:solidFill>
                <a:latin typeface="Arial"/>
              </a:rPr>
              <a:t>  [0.694, 0.848]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4370832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4572000"/>
            <a:ext cx="11057839" cy="1234440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4572000"/>
            <a:ext cx="11057839" cy="41148"/>
          </a:xfrm>
          <a:prstGeom prst="rect">
            <a:avLst/>
          </a:prstGeom>
          <a:solidFill>
            <a:srgbClr val="1B7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4846320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171A21"/>
                </a:solidFill>
                <a:latin typeface="Georgia"/>
              </a:rPr>
              <a:t>Three independently built models. Intervals overlap.</a:t>
            </a:r>
          </a:p>
          <a:p>
            <a:pPr>
              <a:spcBef>
                <a:spcPts val="700"/>
              </a:spcBef>
            </a:pPr>
            <a:r>
              <a:rPr sz="1350" b="0" i="0">
                <a:solidFill>
                  <a:srgbClr val="4A5260"/>
                </a:solidFill>
                <a:latin typeface="Arial"/>
              </a:rPr>
              <a:t>Not a quirk of one model.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364224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F5D8C"/>
                </a:solidFill>
                <a:latin typeface="Arial"/>
              </a:rPr>
              <a:t>FERMAT</a:t>
            </a:r>
            <a:r>
              <a:rPr sz="1000" b="0" i="0">
                <a:solidFill>
                  <a:srgbClr val="DDE2EA"/>
                </a:solidFill>
                <a:latin typeface="Arial"/>
              </a:rPr>
              <a:t>   ·   </a:t>
            </a:r>
            <a:r>
              <a:rPr sz="1000" b="0" i="0">
                <a:solidFill>
                  <a:srgbClr val="79828F"/>
                </a:solidFill>
                <a:latin typeface="Arial"/>
              </a:rPr>
              <a:t>reasoning — grading the page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27487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9828F"/>
                </a:solidFill>
                <a:latin typeface="Arial"/>
              </a:rPr>
              <a:t>5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23A34"/>
                </a:solidFill>
                <a:latin typeface="Arial"/>
              </a:rPr>
              <a:t>WHAT DID NOT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 i="0">
                <a:solidFill>
                  <a:srgbClr val="171A21"/>
                </a:solidFill>
                <a:latin typeface="Georgia"/>
              </a:rPr>
              <a:t>Two results we had to throw 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874519"/>
            <a:ext cx="5440680" cy="3200400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874519"/>
            <a:ext cx="5440680" cy="41148"/>
          </a:xfrm>
          <a:prstGeom prst="rect">
            <a:avLst/>
          </a:prstGeom>
          <a:solidFill>
            <a:srgbClr val="B23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103120"/>
            <a:ext cx="4846320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9828F"/>
                </a:solidFill>
                <a:latin typeface="Arial"/>
              </a:rPr>
              <a:t>A 4TH MODEL, PERCEPTION</a:t>
            </a:r>
          </a:p>
          <a:p>
            <a:pPr>
              <a:spcBef>
                <a:spcPts val="900"/>
              </a:spcBef>
            </a:pPr>
            <a:r>
              <a:rPr sz="2700" b="1" i="0">
                <a:solidFill>
                  <a:srgbClr val="B23A34"/>
                </a:solidFill>
                <a:latin typeface="Georgia"/>
              </a:rPr>
              <a:t>0.915</a:t>
            </a:r>
            <a:r>
              <a:rPr sz="1800" b="0" i="0">
                <a:solidFill>
                  <a:srgbClr val="79828F"/>
                </a:solidFill>
                <a:latin typeface="Arial"/>
              </a:rPr>
              <a:t>  →  </a:t>
            </a:r>
            <a:r>
              <a:rPr sz="2700" b="1" i="0">
                <a:solidFill>
                  <a:srgbClr val="171A21"/>
                </a:solidFill>
                <a:latin typeface="Georgia"/>
              </a:rPr>
              <a:t>0.556</a:t>
            </a:r>
          </a:p>
          <a:p>
            <a:pPr>
              <a:spcBef>
                <a:spcPts val="1100"/>
              </a:spcBef>
            </a:pPr>
            <a:r>
              <a:rPr sz="1350" b="0" i="0">
                <a:solidFill>
                  <a:srgbClr val="4A5260"/>
                </a:solidFill>
                <a:latin typeface="Arial"/>
              </a:rPr>
              <a:t>InternVL3 looked like our best result. Under the robustness check it collapsed to chance — </a:t>
            </a:r>
            <a:r>
              <a:rPr sz="1350" b="1" i="0">
                <a:solidFill>
                  <a:srgbClr val="171A21"/>
                </a:solidFill>
                <a:latin typeface="Arial"/>
              </a:rPr>
              <a:t>2 of every 3 pages were total breakdowns</a:t>
            </a:r>
            <a:r>
              <a:rPr sz="1350" b="0" i="0">
                <a:solidFill>
                  <a:srgbClr val="4A5260"/>
                </a:solidFill>
                <a:latin typeface="Arial"/>
              </a:rPr>
              <a:t>, and that binary was all the score was detecting.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1874519"/>
            <a:ext cx="5257800" cy="3200400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874519"/>
            <a:ext cx="5257800" cy="41148"/>
          </a:xfrm>
          <a:prstGeom prst="rect">
            <a:avLst/>
          </a:prstGeom>
          <a:solidFill>
            <a:srgbClr val="9A6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47688" y="2103120"/>
            <a:ext cx="4709160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9828F"/>
                </a:solidFill>
                <a:latin typeface="Arial"/>
              </a:rPr>
              <a:t>A 2ND DATASET, REASONING</a:t>
            </a:r>
          </a:p>
          <a:p>
            <a:pPr>
              <a:spcBef>
                <a:spcPts val="900"/>
              </a:spcBef>
            </a:pPr>
            <a:r>
              <a:rPr sz="2700" b="1" i="0">
                <a:solidFill>
                  <a:srgbClr val="9A6A12"/>
                </a:solidFill>
                <a:latin typeface="Georgia"/>
              </a:rPr>
              <a:t>96%</a:t>
            </a:r>
            <a:r>
              <a:rPr sz="1400" b="0" i="0">
                <a:solidFill>
                  <a:srgbClr val="4A5260"/>
                </a:solidFill>
                <a:latin typeface="Arial"/>
              </a:rPr>
              <a:t>  accuracy, and meaningless</a:t>
            </a:r>
          </a:p>
          <a:p>
            <a:pPr>
              <a:spcBef>
                <a:spcPts val="1100"/>
              </a:spcBef>
            </a:pPr>
            <a:r>
              <a:rPr sz="1350" b="0" i="0">
                <a:solidFill>
                  <a:srgbClr val="4A5260"/>
                </a:solidFill>
                <a:latin typeface="Arial"/>
              </a:rPr>
              <a:t>ScratchMath, 100 pages. Every page contains an error, and the model answers “error” 90% of the time — so it scores well by construction.</a:t>
            </a:r>
          </a:p>
          <a:p>
            <a:pPr>
              <a:spcBef>
                <a:spcPts val="800"/>
              </a:spcBef>
            </a:pPr>
            <a:r>
              <a:rPr sz="1350" b="1" i="0">
                <a:solidFill>
                  <a:srgbClr val="171A21"/>
                </a:solidFill>
                <a:latin typeface="Arial"/>
              </a:rPr>
              <a:t>In 24% of readings it said it could not read the image. It answered “error” anyway in 82% of those.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5285232"/>
            <a:ext cx="11057839" cy="868680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5285232"/>
            <a:ext cx="11057839" cy="41148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5468112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171A21"/>
                </a:solidFill>
                <a:latin typeface="Georgia"/>
              </a:rPr>
              <a:t>Both were caught by checks we run on every number — which is why the results on the earlier slides can be trusted.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364224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F5D8C"/>
                </a:solidFill>
                <a:latin typeface="Arial"/>
              </a:rPr>
              <a:t>InternVL3 on FERMAT  ·  Qwen2.5-VL-7B on ScratchMath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27487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9828F"/>
                </a:solidFill>
                <a:latin typeface="Arial"/>
              </a:rPr>
              <a:t>6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F5D8C"/>
                </a:solidFill>
                <a:latin typeface="Arial"/>
              </a:rPr>
              <a:t>OPEN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 i="0">
                <a:solidFill>
                  <a:srgbClr val="171A21"/>
                </a:solidFill>
                <a:latin typeface="Georgia"/>
              </a:rPr>
              <a:t>One question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828800"/>
            <a:ext cx="5440680" cy="2514600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828800"/>
            <a:ext cx="5440680" cy="41148"/>
          </a:xfrm>
          <a:prstGeom prst="rect">
            <a:avLst/>
          </a:prstGeom>
          <a:solidFill>
            <a:srgbClr val="1B7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103120"/>
            <a:ext cx="484632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B7A4B"/>
                </a:solidFill>
                <a:latin typeface="Arial"/>
              </a:rPr>
              <a:t>SOLID</a:t>
            </a:r>
          </a:p>
          <a:p>
            <a:pPr>
              <a:spcBef>
                <a:spcPts val="900"/>
              </a:spcBef>
            </a:pPr>
            <a:r>
              <a:rPr sz="1350" b="0" i="0">
                <a:solidFill>
                  <a:srgbClr val="171A21"/>
                </a:solidFill>
                <a:latin typeface="Arial"/>
              </a:rPr>
              <a:t>— Perception: 0.835, survives every check</a:t>
            </a:r>
          </a:p>
          <a:p>
            <a:pPr>
              <a:spcBef>
                <a:spcPts val="900"/>
              </a:spcBef>
            </a:pPr>
            <a:r>
              <a:rPr sz="1350" b="0" i="0">
                <a:solidFill>
                  <a:srgbClr val="171A21"/>
                </a:solidFill>
                <a:latin typeface="Arial"/>
              </a:rPr>
              <a:t>— Abstention rule: 57 of 61</a:t>
            </a:r>
          </a:p>
          <a:p>
            <a:pPr>
              <a:spcBef>
                <a:spcPts val="900"/>
              </a:spcBef>
            </a:pPr>
            <a:r>
              <a:rPr sz="1350" b="0" i="0">
                <a:solidFill>
                  <a:srgbClr val="171A21"/>
                </a:solidFill>
                <a:latin typeface="Arial"/>
              </a:rPr>
              <a:t>— Reasoning: confirmed on 3 model families</a:t>
            </a:r>
          </a:p>
          <a:p>
            <a:pPr>
              <a:spcBef>
                <a:spcPts val="900"/>
              </a:spcBef>
            </a:pPr>
            <a:r>
              <a:rPr sz="1350" b="0" i="0">
                <a:solidFill>
                  <a:srgbClr val="171A21"/>
                </a:solidFill>
                <a:latin typeface="Arial"/>
              </a:rPr>
              <a:t>— Pooled-vs-split: a method contribution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1828800"/>
            <a:ext cx="5257800" cy="2514600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828800"/>
            <a:ext cx="5257800" cy="41148"/>
          </a:xfrm>
          <a:prstGeom prst="rect">
            <a:avLst/>
          </a:prstGeom>
          <a:solidFill>
            <a:srgbClr val="9A6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47688" y="2103120"/>
            <a:ext cx="466344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A6A12"/>
                </a:solidFill>
                <a:latin typeface="Arial"/>
              </a:rPr>
              <a:t>LIMITED</a:t>
            </a:r>
          </a:p>
          <a:p>
            <a:pPr>
              <a:spcBef>
                <a:spcPts val="900"/>
              </a:spcBef>
            </a:pPr>
            <a:r>
              <a:rPr sz="1350" b="0" i="0">
                <a:solidFill>
                  <a:srgbClr val="171A21"/>
                </a:solidFill>
                <a:latin typeface="Arial"/>
              </a:rPr>
              <a:t>— Every result sits on FERMAT alone</a:t>
            </a:r>
          </a:p>
          <a:p>
            <a:pPr>
              <a:spcBef>
                <a:spcPts val="900"/>
              </a:spcBef>
            </a:pPr>
            <a:r>
              <a:rPr sz="1350" b="0" i="0">
                <a:solidFill>
                  <a:srgbClr val="171A21"/>
                </a:solidFill>
                <a:latin typeface="Arial"/>
              </a:rPr>
              <a:t>— Both alternative datasets are 100%
    error items</a:t>
            </a:r>
          </a:p>
          <a:p>
            <a:pPr>
              <a:spcBef>
                <a:spcPts val="900"/>
              </a:spcBef>
            </a:pPr>
            <a:r>
              <a:rPr sz="1350" b="0" i="0">
                <a:solidFill>
                  <a:srgbClr val="171A21"/>
                </a:solidFill>
                <a:latin typeface="Arial"/>
              </a:rPr>
              <a:t>— …so neither can test the split on
    slide 4 at all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4617720"/>
            <a:ext cx="11057839" cy="1371600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4617720"/>
            <a:ext cx="11057839" cy="41148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48920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171A21"/>
                </a:solidFill>
                <a:latin typeface="Georgia"/>
              </a:rPr>
              <a:t>Accept one dataset as a limitation — or label correct pages ourselves?</a:t>
            </a:r>
          </a:p>
          <a:p>
            <a:pPr>
              <a:spcBef>
                <a:spcPts val="800"/>
              </a:spcBef>
            </a:pPr>
            <a:r>
              <a:rPr sz="1350" b="0" i="0">
                <a:solidFill>
                  <a:srgbClr val="4A5260"/>
                </a:solidFill>
                <a:latin typeface="Arial"/>
              </a:rPr>
              <a:t>~3 weeks to submission. All experiments done; remaining work is the write-up.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364224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F5D8C"/>
                </a:solidFill>
                <a:latin typeface="Arial"/>
              </a:rPr>
              <a:t>FERMAT</a:t>
            </a:r>
            <a:r>
              <a:rPr sz="1000" b="0" i="0">
                <a:solidFill>
                  <a:srgbClr val="DDE2EA"/>
                </a:solidFill>
                <a:latin typeface="Arial"/>
              </a:rPr>
              <a:t>   ·   </a:t>
            </a:r>
            <a:r>
              <a:rPr sz="1000" b="0" i="0">
                <a:solidFill>
                  <a:srgbClr val="79828F"/>
                </a:solidFill>
                <a:latin typeface="Arial"/>
              </a:rPr>
              <a:t>both tasks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27487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9828F"/>
                </a:solidFill>
                <a:latin typeface="Arial"/>
              </a:rPr>
              <a:t>7 /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F5D8C"/>
                </a:solidFill>
                <a:latin typeface="Arial"/>
              </a:rPr>
              <a:t>PROPOSED NEXT EXPERIMENT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 i="0">
                <a:solidFill>
                  <a:srgbClr val="171A21"/>
                </a:solidFill>
                <a:latin typeface="Georgia"/>
              </a:rPr>
              <a:t>Make it solve the problem, not just eyeball 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783080"/>
            <a:ext cx="11057839" cy="1143000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83080"/>
            <a:ext cx="11057839" cy="41148"/>
          </a:xfrm>
          <a:prstGeom prst="rect">
            <a:avLst/>
          </a:prstGeom>
          <a:solidFill>
            <a:srgbClr val="9A6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1993392"/>
            <a:ext cx="10835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71A21"/>
                </a:solidFill>
                <a:latin typeface="Georgia"/>
              </a:rPr>
              <a:t>The gap: plausibility-checking instead of recomputing.</a:t>
            </a:r>
          </a:p>
          <a:p>
            <a:pPr>
              <a:spcBef>
                <a:spcPts val="700"/>
              </a:spcBef>
            </a:pPr>
            <a:r>
              <a:rPr sz="1350" b="0" i="0">
                <a:solidFill>
                  <a:srgbClr val="4A5260"/>
                </a:solidFill>
                <a:latin typeface="Arial"/>
              </a:rPr>
              <a:t>It reads the student's steps and judges whether they look right. One page asserts </a:t>
            </a:r>
            <a:r>
              <a:rPr sz="1350" b="1" i="0">
                <a:solidFill>
                  <a:srgbClr val="171A21"/>
                </a:solidFill>
                <a:latin typeface="Arial"/>
              </a:rPr>
              <a:t>19 × −18 × 23 = −7966</a:t>
            </a:r>
            <a:r>
              <a:rPr sz="1350" b="0" i="0">
                <a:solidFill>
                  <a:srgbClr val="4A5260"/>
                </a:solidFill>
                <a:latin typeface="Arial"/>
              </a:rPr>
              <a:t>. The model accepted it. The correct value is </a:t>
            </a:r>
            <a:r>
              <a:rPr sz="1350" b="1" i="0">
                <a:solidFill>
                  <a:srgbClr val="B23A34"/>
                </a:solidFill>
                <a:latin typeface="Arial"/>
              </a:rPr>
              <a:t>−7866</a:t>
            </a:r>
            <a:r>
              <a:rPr sz="1350" b="0" i="0">
                <a:solidFill>
                  <a:srgbClr val="4A5260"/>
                </a:solidFill>
                <a:latin typeface="Arial"/>
              </a:rPr>
              <a:t>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3154680"/>
            <a:ext cx="5440680" cy="2331720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3154680"/>
            <a:ext cx="5440680" cy="41148"/>
          </a:xfrm>
          <a:prstGeom prst="rect">
            <a:avLst/>
          </a:prstGeom>
          <a:solidFill>
            <a:srgbClr val="B23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3364992"/>
            <a:ext cx="48463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9828F"/>
                </a:solidFill>
                <a:latin typeface="Arial"/>
              </a:rPr>
              <a:t>ALREADY TRIED — PROMPT LEVEL</a:t>
            </a:r>
          </a:p>
          <a:p>
            <a:pPr>
              <a:spcBef>
                <a:spcPts val="800"/>
              </a:spcBef>
            </a:pPr>
            <a:r>
              <a:rPr sz="1350" b="0" i="1">
                <a:solidFill>
                  <a:srgbClr val="171A21"/>
                </a:solidFill>
                <a:latin typeface="Arial"/>
              </a:rPr>
              <a:t>“Work the problem yourself, then judge.”</a:t>
            </a:r>
          </a:p>
          <a:p>
            <a:pPr>
              <a:spcBef>
                <a:spcPts val="900"/>
              </a:spcBef>
            </a:pPr>
            <a:r>
              <a:rPr sz="1300" b="1" i="0">
                <a:solidFill>
                  <a:srgbClr val="171A21"/>
                </a:solidFill>
                <a:latin typeface="Arial"/>
              </a:rPr>
              <a:t>Qwen-3B  </a:t>
            </a:r>
            <a:r>
              <a:rPr sz="1300" b="0" i="0">
                <a:solidFill>
                  <a:srgbClr val="4A5260"/>
                </a:solidFill>
                <a:latin typeface="Arial"/>
              </a:rPr>
              <a:t>says-error 94% → 38%, accuracy 0.51 → 0.55</a:t>
            </a:r>
          </a:p>
          <a:p>
            <a:pPr>
              <a:spcBef>
                <a:spcPts val="500"/>
              </a:spcBef>
            </a:pPr>
            <a:r>
              <a:rPr sz="1300" b="1" i="0">
                <a:solidFill>
                  <a:srgbClr val="171A21"/>
                </a:solidFill>
                <a:latin typeface="Arial"/>
              </a:rPr>
              <a:t>InternVL3  </a:t>
            </a:r>
            <a:r>
              <a:rPr sz="1300" b="0" i="0">
                <a:solidFill>
                  <a:srgbClr val="4A5260"/>
                </a:solidFill>
                <a:latin typeface="Arial"/>
              </a:rPr>
              <a:t>accuracy 0.70 → 0.67</a:t>
            </a:r>
          </a:p>
          <a:p>
            <a:pPr>
              <a:spcBef>
                <a:spcPts val="900"/>
              </a:spcBef>
            </a:pPr>
            <a:r>
              <a:rPr sz="1300" b="1" i="0">
                <a:solidFill>
                  <a:srgbClr val="B23A34"/>
                </a:solidFill>
                <a:latin typeface="Arial"/>
              </a:rPr>
              <a:t>Behaviour swung hard. Accuracy did not move.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5080" y="3154680"/>
            <a:ext cx="5257800" cy="2331720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3154680"/>
            <a:ext cx="5257800" cy="41148"/>
          </a:xfrm>
          <a:prstGeom prst="rect">
            <a:avLst/>
          </a:prstGeom>
          <a:solidFill>
            <a:srgbClr val="1B7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47688" y="3364992"/>
            <a:ext cx="47091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9828F"/>
                </a:solidFill>
                <a:latin typeface="Arial"/>
              </a:rPr>
              <a:t>NOT YET TRIED — PIPELINE LEVEL</a:t>
            </a:r>
          </a:p>
          <a:p>
            <a:pPr>
              <a:spcBef>
                <a:spcPts val="800"/>
              </a:spcBef>
            </a:pPr>
            <a:r>
              <a:rPr sz="1350" b="1" i="0">
                <a:solidFill>
                  <a:srgbClr val="171A21"/>
                </a:solidFill>
                <a:latin typeface="Arial"/>
              </a:rPr>
              <a:t>Solve the page independently, then compare in code.</a:t>
            </a:r>
          </a:p>
          <a:p>
            <a:pPr>
              <a:spcBef>
                <a:spcPts val="900"/>
              </a:spcBef>
            </a:pPr>
            <a:r>
              <a:rPr sz="1300" b="0" i="0">
                <a:solidFill>
                  <a:srgbClr val="4A5260"/>
                </a:solidFill>
                <a:latin typeface="Arial"/>
              </a:rPr>
              <a:t>Asking one prompt to do both still lets the model see the student's answer first, so it can anchor on it. A separate solve step cannot.</a:t>
            </a:r>
          </a:p>
          <a:p>
            <a:pPr>
              <a:spcBef>
                <a:spcPts val="800"/>
              </a:spcBef>
            </a:pPr>
            <a:r>
              <a:rPr sz="1300" b="0" i="0">
                <a:solidFill>
                  <a:srgbClr val="4A5260"/>
                </a:solidFill>
                <a:latin typeface="Arial"/>
              </a:rPr>
              <a:t>Then re-measure: does the split on slide 4 still hold, and does uncertainty still predict the errors?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5715000"/>
            <a:ext cx="11057839" cy="658368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5715000"/>
            <a:ext cx="11057839" cy="41148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6968" y="5870448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71A21"/>
                </a:solidFill>
                <a:latin typeface="Georgia"/>
              </a:rPr>
              <a:t>Worth the remaining time — or write up what we have?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364224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F5D8C"/>
                </a:solidFill>
                <a:latin typeface="Arial"/>
              </a:rPr>
              <a:t>FERMAT</a:t>
            </a:r>
            <a:r>
              <a:rPr sz="1000" b="0" i="0">
                <a:solidFill>
                  <a:srgbClr val="DDE2EA"/>
                </a:solidFill>
                <a:latin typeface="Arial"/>
              </a:rPr>
              <a:t>   ·   </a:t>
            </a:r>
            <a:r>
              <a:rPr sz="1000" b="0" i="0">
                <a:solidFill>
                  <a:srgbClr val="79828F"/>
                </a:solidFill>
                <a:latin typeface="Arial"/>
              </a:rPr>
              <a:t>reasoning — proposed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27487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9828F"/>
                </a:solidFill>
                <a:latin typeface="Arial"/>
              </a:rPr>
              <a:t>8 /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