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Arial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FERMAT: handwritten math,
errors planted on purpose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4345021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205740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A21"/>
                </a:solidFill>
                <a:latin typeface="Arial"/>
              </a:rPr>
              <a:t>~2,200</a:t>
            </a:r>
            <a:r>
              <a:rPr sz="1500" b="0" i="0">
                <a:solidFill>
                  <a:srgbClr val="4A5260"/>
                </a:solidFill>
                <a:latin typeface="Arial"/>
              </a:rPr>
              <a:t> photographed solutions   ·   </a:t>
            </a:r>
            <a:r>
              <a:rPr sz="1500" b="1" i="0">
                <a:solidFill>
                  <a:srgbClr val="171A21"/>
                </a:solidFill>
                <a:latin typeface="Arial"/>
              </a:rPr>
              <a:t>85%</a:t>
            </a:r>
            <a:r>
              <a:rPr sz="1500" b="0" i="0">
                <a:solidFill>
                  <a:srgbClr val="4A5260"/>
                </a:solidFill>
                <a:latin typeface="Arial"/>
              </a:rPr>
              <a:t> contain a deliberate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2606040"/>
            <a:ext cx="5943600" cy="169164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2606040"/>
            <a:ext cx="5943600" cy="41148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2816352"/>
            <a:ext cx="5440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WE TEST TWO SEPARATE TASKS</a:t>
            </a:r>
          </a:p>
          <a:p>
            <a:pPr>
              <a:spcBef>
                <a:spcPts val="900"/>
              </a:spcBef>
            </a:pPr>
            <a:r>
              <a:rPr sz="1400" b="1" i="0">
                <a:solidFill>
                  <a:srgbClr val="171A21"/>
                </a:solidFill>
                <a:latin typeface="Arial"/>
              </a:rPr>
              <a:t>Perception</a:t>
            </a:r>
            <a:r>
              <a:rPr sz="1400" b="0" i="0">
                <a:solidFill>
                  <a:srgbClr val="4A5260"/>
                </a:solidFill>
                <a:latin typeface="Arial"/>
              </a:rPr>
              <a:t> — read the page. Did it transcribe correctly?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71A21"/>
                </a:solidFill>
                <a:latin typeface="Arial"/>
              </a:rPr>
              <a:t>Reasoning</a:t>
            </a:r>
            <a:r>
              <a:rPr sz="1400" b="0" i="0">
                <a:solidFill>
                  <a:srgbClr val="4A5260"/>
                </a:solidFill>
                <a:latin typeface="Arial"/>
              </a:rPr>
              <a:t> — grade the page. Did it spot the error correctly?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5720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9828F"/>
                </a:solidFill>
                <a:latin typeface="Arial"/>
              </a:rPr>
              <a:t>ONLY FERMAT HAS CORRECT ANSWERS TOO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9194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A21"/>
                </a:solidFill>
                <a:latin typeface="Arial"/>
              </a:rPr>
              <a:t>FERMAT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9194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7A4B"/>
                </a:solidFill>
                <a:latin typeface="Arial"/>
              </a:rPr>
              <a:t>15% 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21208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285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71A21"/>
                </a:solidFill>
                <a:latin typeface="Arial"/>
              </a:rPr>
              <a:t>ErrorRadar  /  ScratchMath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2852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23A34"/>
                </a:solidFill>
                <a:latin typeface="Arial"/>
              </a:rPr>
              <a:t>no clean 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57784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7A4B"/>
                </a:solidFill>
                <a:latin typeface="Arial"/>
              </a:rPr>
              <a:t>PERCEPTION — CONFIRMED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When it can't read a page twice the same way, it's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5260"/>
                </a:solidFill>
                <a:latin typeface="Arial"/>
              </a:rPr>
              <a:t>The model is asked to </a:t>
            </a:r>
            <a:r>
              <a:rPr sz="1500" b="0" i="1">
                <a:solidFill>
                  <a:srgbClr val="171A21"/>
                </a:solidFill>
                <a:latin typeface="Arial"/>
              </a:rPr>
              <a:t>“explicitly perform OCR on the handwritten text and extract the content in LaTeX format.”</a:t>
            </a:r>
          </a:p>
          <a:p>
            <a:pPr>
              <a:spcBef>
                <a:spcPts val="500"/>
              </a:spcBef>
            </a:pPr>
            <a:r>
              <a:rPr sz="1500" b="0" i="0">
                <a:solidFill>
                  <a:srgbClr val="4A5260"/>
                </a:solidFill>
                <a:latin typeface="Arial"/>
              </a:rPr>
              <a:t>We do that 5 times per page and measure how much the readings disagree.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517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088" y="265176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>AUROC  (95% CI)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2608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35808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All 300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3035808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Arial"/>
              </a:rPr>
              <a:t>0.835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[0.787, 0.879]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7472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547872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Hardest cases deleted  (slide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3547872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Arial"/>
              </a:rPr>
              <a:t>0.796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[0.736, 0.852]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86784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059936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The model's own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4059936"/>
            <a:ext cx="2743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3A34"/>
                </a:solidFill>
                <a:latin typeface="Arial"/>
              </a:rPr>
              <a:t>0.537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[0.469, 0.605]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462272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260"/>
                </a:solidFill>
                <a:latin typeface="Arial"/>
              </a:rPr>
              <a:t>Row 3's interval crosses 0.50 — the model's own confidence score is no better than a coin flip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560320"/>
            <a:ext cx="438912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389120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880360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1A21"/>
                </a:solidFill>
                <a:latin typeface="Georgia"/>
              </a:rPr>
              <a:t>All 5 readings disagree?</a:t>
            </a: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1B7A4B"/>
                </a:solidFill>
                <a:latin typeface="Georgia"/>
              </a:rPr>
              <a:t>Wrong 57 times out of 61.</a:t>
            </a:r>
          </a:p>
          <a:p>
            <a:pPr>
              <a:spcBef>
                <a:spcPts val="1200"/>
              </a:spcBef>
            </a:pPr>
            <a:r>
              <a:rPr sz="1250" b="0" i="0">
                <a:solidFill>
                  <a:srgbClr val="4A5260"/>
                </a:solidFill>
                <a:latin typeface="Arial"/>
              </a:rPr>
              <a:t>Flag those for a human. Catches 57 real errors, wastes 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perception — reading the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Arial"/>
              </a:rPr>
              <a:t>PERCEPTION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1A21"/>
                </a:solidFill>
                <a:latin typeface="Georgia"/>
              </a:rPr>
              <a:t>Where it works, and the blind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276148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2761488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10" y="1883664"/>
            <a:ext cx="1446523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" y="3803904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260"/>
                </a:solidFill>
                <a:latin typeface="Arial"/>
              </a:rPr>
              <a:t>Agrees  ·  H = 0.00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1B7A4B"/>
                </a:solidFill>
                <a:latin typeface="Arial"/>
              </a:rPr>
              <a:t>Correct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737360"/>
            <a:ext cx="276148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737360"/>
            <a:ext cx="2761488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092787"/>
            <a:ext cx="2487168" cy="1364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3592" y="3803904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260"/>
                </a:solidFill>
                <a:latin typeface="Arial"/>
              </a:rPr>
              <a:t>Disagrees  ·  H = 1.61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1B7A4B"/>
                </a:solidFill>
                <a:latin typeface="Arial"/>
              </a:rPr>
              <a:t>Caught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737360"/>
            <a:ext cx="276148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1737360"/>
            <a:ext cx="2761488" cy="41148"/>
          </a:xfrm>
          <a:prstGeom prst="rect">
            <a:avLst/>
          </a:prstGeom>
          <a:solidFill>
            <a:srgbClr val="9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617" y="1883664"/>
            <a:ext cx="1462125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83096" y="3803904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260"/>
                </a:solidFill>
                <a:latin typeface="Arial"/>
              </a:rPr>
              <a:t>Disagrees  ·  H = 1.61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9A6A12"/>
                </a:solidFill>
                <a:latin typeface="Arial"/>
              </a:rPr>
              <a:t>False alarm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37360"/>
            <a:ext cx="276148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761488" cy="41148"/>
          </a:xfrm>
          <a:prstGeom prst="rect">
            <a:avLst/>
          </a:prstGeom>
          <a:solidFill>
            <a:srgbClr val="B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959" y="1883664"/>
            <a:ext cx="1444449" cy="1783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72600" y="3803904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5260"/>
                </a:solidFill>
                <a:latin typeface="Arial"/>
              </a:rPr>
              <a:t>Agrees  ·  H = 0.00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B23A34"/>
                </a:solidFill>
                <a:latin typeface="Arial"/>
              </a:rPr>
              <a:t>Blind spot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11057839" cy="1481328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617720"/>
            <a:ext cx="11057839" cy="41148"/>
          </a:xfrm>
          <a:prstGeom prst="rect">
            <a:avLst/>
          </a:prstGeom>
          <a:solidFill>
            <a:srgbClr val="B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828032"/>
            <a:ext cx="10835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71A21"/>
                </a:solidFill>
                <a:latin typeface="Georgia"/>
              </a:rPr>
              <a:t>Page 1 and page 4 look identical to the method — both entropy zero. One is right, one is wrong.</a:t>
            </a:r>
          </a:p>
          <a:p>
            <a:pPr>
              <a:spcBef>
                <a:spcPts val="900"/>
              </a:spcBef>
            </a:pPr>
            <a:r>
              <a:rPr sz="1350" b="1" i="0">
                <a:solidFill>
                  <a:srgbClr val="2F5D8C"/>
                </a:solidFill>
                <a:latin typeface="Arial"/>
              </a:rPr>
              <a:t>The robustness check: </a:t>
            </a:r>
            <a:r>
              <a:rPr sz="1350" b="0" i="0">
                <a:solidFill>
                  <a:srgbClr val="4A5260"/>
                </a:solidFill>
                <a:latin typeface="Arial"/>
              </a:rPr>
              <a:t>delete every page where all 5 readings differed — easy to flag, nearly always wrong. If the score survives, the signal is graded. Qwen </a:t>
            </a:r>
            <a:r>
              <a:rPr sz="1350" b="1" i="0">
                <a:solidFill>
                  <a:srgbClr val="1B7A4B"/>
                </a:solidFill>
                <a:latin typeface="Arial"/>
              </a:rPr>
              <a:t>0.835 → 0.794</a:t>
            </a:r>
            <a:r>
              <a:rPr sz="1350" b="0" i="0">
                <a:solidFill>
                  <a:srgbClr val="4A5260"/>
                </a:solidFill>
                <a:latin typeface="Arial"/>
              </a:rPr>
              <a:t>, 239 pages left.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perception — Qwen2.5-VL-3B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A12"/>
                </a:solidFill>
                <a:latin typeface="Arial"/>
              </a:rPr>
              <a:t>REASONING — THE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The average hid 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5260"/>
                </a:solidFill>
                <a:latin typeface="Arial"/>
              </a:rPr>
              <a:t>Different task. The model is asked only: </a:t>
            </a:r>
            <a:r>
              <a:rPr sz="1500" b="0" i="1">
                <a:solidFill>
                  <a:srgbClr val="171A21"/>
                </a:solidFill>
                <a:latin typeface="Arial"/>
              </a:rPr>
              <a:t>“analyze the Answer to determine whether there is any error.”</a:t>
            </a:r>
            <a:r>
              <a:rPr sz="1500" b="0" i="0">
                <a:solidFill>
                  <a:srgbClr val="4A5260"/>
                </a:solidFill>
                <a:latin typeface="Arial"/>
              </a:rPr>
              <a:t>  It is never shown the correct answer.</a:t>
            </a:r>
          </a:p>
          <a:p>
            <a:pPr>
              <a:spcBef>
                <a:spcPts val="500"/>
              </a:spcBef>
            </a:pPr>
            <a:r>
              <a:rPr sz="1500" b="0" i="0">
                <a:solidFill>
                  <a:srgbClr val="4A5260"/>
                </a:solidFill>
                <a:latin typeface="Arial"/>
              </a:rPr>
              <a:t>Same 300 pages, split by whether an error was really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>SCORED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260604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>AUROC  (95% 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606040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8036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99008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Everything pooled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99008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3A34"/>
                </a:solidFill>
                <a:latin typeface="Arial"/>
              </a:rPr>
              <a:t>0.520</a:t>
            </a:r>
            <a:r>
              <a:rPr sz="1250" b="0" i="0">
                <a:solidFill>
                  <a:srgbClr val="79828F"/>
                </a:solidFill>
                <a:latin typeface="Arial"/>
              </a:rPr>
              <a:t>  [0.458, 0.582]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990088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23A34"/>
                </a:solidFill>
                <a:latin typeface="Arial"/>
              </a:rPr>
              <a:t>looks like chance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83864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55701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Pages with 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57016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Arial"/>
              </a:rPr>
              <a:t>0.801</a:t>
            </a:r>
            <a:r>
              <a:rPr sz="1250" b="0" i="0">
                <a:solidFill>
                  <a:srgbClr val="79828F"/>
                </a:solidFill>
                <a:latin typeface="Arial"/>
              </a:rPr>
              <a:t>  [0.751, 0.846]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557016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7A4B"/>
                </a:solidFill>
                <a:latin typeface="Arial"/>
              </a:rPr>
              <a:t>works well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50792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23944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Pages that are 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12394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Arial"/>
              </a:rPr>
              <a:t>0.280</a:t>
            </a:r>
            <a:r>
              <a:rPr sz="1250" b="0" i="0">
                <a:solidFill>
                  <a:srgbClr val="79828F"/>
                </a:solidFill>
                <a:latin typeface="Arial"/>
              </a:rPr>
              <a:t>  [0.200, 0.366]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123944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7A4B"/>
                </a:solidFill>
                <a:latin typeface="Arial"/>
              </a:rPr>
              <a:t>works backwards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09160"/>
            <a:ext cx="11057839" cy="1298448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09160"/>
            <a:ext cx="11057839" cy="41148"/>
          </a:xfrm>
          <a:prstGeom prst="rect">
            <a:avLst/>
          </a:prstGeom>
          <a:solidFill>
            <a:srgbClr val="B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95604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71A21"/>
                </a:solidFill>
                <a:latin typeface="Georgia"/>
              </a:rPr>
              <a:t>0.80 and 0.28 average out to 0.52.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Both halves are real. Pooling reports neither. Only visible because FERMAT has correct pages to separate 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reasoning — grading the page  ·  Qwen2.5-VL-7B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7A4B"/>
                </a:solidFill>
                <a:latin typeface="Arial"/>
              </a:rPr>
              <a:t>REASONING —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Holds across three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A5260"/>
                </a:solidFill>
                <a:latin typeface="Arial"/>
              </a:rPr>
              <a:t>The 0.80 result above, on pages that contain an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246888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9828F"/>
                </a:solidFill>
                <a:latin typeface="Arial"/>
              </a:rPr>
              <a:t>AUROC  (95% CI)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4320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852928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Qwen2.5-VL-3B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852928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Arial"/>
              </a:rPr>
              <a:t>0.854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[0.796, 0.902]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310128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Qwen2.5-VL-7B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383280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Arial"/>
              </a:rPr>
              <a:t>0.801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[0.751, 0.846]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40480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13632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A21"/>
                </a:solidFill>
                <a:latin typeface="Arial"/>
              </a:rPr>
              <a:t>LLaVA-NeXT-7B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913632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Arial"/>
              </a:rPr>
              <a:t>0.775</a:t>
            </a:r>
            <a:r>
              <a:rPr sz="1150" b="0" i="0">
                <a:solidFill>
                  <a:srgbClr val="79828F"/>
                </a:solidFill>
                <a:latin typeface="Arial"/>
              </a:rPr>
              <a:t>  [0.694, 0.848]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370832"/>
            <a:ext cx="11057839" cy="9525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72000"/>
            <a:ext cx="11057839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572000"/>
            <a:ext cx="11057839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846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1A21"/>
                </a:solidFill>
                <a:latin typeface="Georgia"/>
              </a:rPr>
              <a:t>Three independently built models. Intervals overlap.</a:t>
            </a:r>
          </a:p>
          <a:p>
            <a:pPr>
              <a:spcBef>
                <a:spcPts val="7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Not a quirk of one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reasoning — grading the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23A34"/>
                </a:solidFill>
                <a:latin typeface="Arial"/>
              </a:rPr>
              <a:t>WHAT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Two results we had to throw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74519"/>
            <a:ext cx="5440680" cy="32004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74519"/>
            <a:ext cx="5440680" cy="41148"/>
          </a:xfrm>
          <a:prstGeom prst="rect">
            <a:avLst/>
          </a:prstGeom>
          <a:solidFill>
            <a:srgbClr val="B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03120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9828F"/>
                </a:solidFill>
                <a:latin typeface="Arial"/>
              </a:rPr>
              <a:t>A 4TH MODEL, PERCEPTION</a:t>
            </a:r>
          </a:p>
          <a:p>
            <a:pPr>
              <a:spcBef>
                <a:spcPts val="900"/>
              </a:spcBef>
            </a:pPr>
            <a:r>
              <a:rPr sz="2700" b="1" i="0">
                <a:solidFill>
                  <a:srgbClr val="B23A34"/>
                </a:solidFill>
                <a:latin typeface="Georgia"/>
              </a:rPr>
              <a:t>0.915</a:t>
            </a:r>
            <a:r>
              <a:rPr sz="1800" b="0" i="0">
                <a:solidFill>
                  <a:srgbClr val="79828F"/>
                </a:solidFill>
                <a:latin typeface="Arial"/>
              </a:rPr>
              <a:t>  →  </a:t>
            </a:r>
            <a:r>
              <a:rPr sz="2700" b="1" i="0">
                <a:solidFill>
                  <a:srgbClr val="171A21"/>
                </a:solidFill>
                <a:latin typeface="Georgia"/>
              </a:rPr>
              <a:t>0.556</a:t>
            </a:r>
          </a:p>
          <a:p>
            <a:pPr>
              <a:spcBef>
                <a:spcPts val="11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InternVL3 looked like our best result. Under the robustness check it collapsed to chance — </a:t>
            </a:r>
            <a:r>
              <a:rPr sz="1350" b="1" i="0">
                <a:solidFill>
                  <a:srgbClr val="171A21"/>
                </a:solidFill>
                <a:latin typeface="Arial"/>
              </a:rPr>
              <a:t>2 of every 3 pages were total breakdowns</a:t>
            </a:r>
            <a:r>
              <a:rPr sz="1350" b="0" i="0">
                <a:solidFill>
                  <a:srgbClr val="4A5260"/>
                </a:solidFill>
                <a:latin typeface="Arial"/>
              </a:rPr>
              <a:t>, and that binary was all the score was detecting.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74519"/>
            <a:ext cx="5257800" cy="32004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874519"/>
            <a:ext cx="5257800" cy="41148"/>
          </a:xfrm>
          <a:prstGeom prst="rect">
            <a:avLst/>
          </a:prstGeom>
          <a:solidFill>
            <a:srgbClr val="9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103120"/>
            <a:ext cx="47091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9828F"/>
                </a:solidFill>
                <a:latin typeface="Arial"/>
              </a:rPr>
              <a:t>A 2ND DATASET, REASONING</a:t>
            </a:r>
          </a:p>
          <a:p>
            <a:pPr>
              <a:spcBef>
                <a:spcPts val="900"/>
              </a:spcBef>
            </a:pPr>
            <a:r>
              <a:rPr sz="2700" b="1" i="0">
                <a:solidFill>
                  <a:srgbClr val="9A6A12"/>
                </a:solidFill>
                <a:latin typeface="Georgia"/>
              </a:rPr>
              <a:t>96%</a:t>
            </a:r>
            <a:r>
              <a:rPr sz="1400" b="0" i="0">
                <a:solidFill>
                  <a:srgbClr val="4A5260"/>
                </a:solidFill>
                <a:latin typeface="Arial"/>
              </a:rPr>
              <a:t>  accuracy, and meaningless</a:t>
            </a:r>
          </a:p>
          <a:p>
            <a:pPr>
              <a:spcBef>
                <a:spcPts val="11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ScratchMath, 100 pages. Every page contains an error, and the model answers “error” 90% of the time — so it scores well by construction.</a:t>
            </a:r>
          </a:p>
          <a:p>
            <a:pPr>
              <a:spcBef>
                <a:spcPts val="800"/>
              </a:spcBef>
            </a:pPr>
            <a:r>
              <a:rPr sz="1350" b="1" i="0">
                <a:solidFill>
                  <a:srgbClr val="171A21"/>
                </a:solidFill>
                <a:latin typeface="Arial"/>
              </a:rPr>
              <a:t>In 24% of readings it said it could not read the image. It answered “error” anyway in 82% of those.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285232"/>
            <a:ext cx="11057839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285232"/>
            <a:ext cx="11057839" cy="41148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46811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1A21"/>
                </a:solidFill>
                <a:latin typeface="Georgia"/>
              </a:rPr>
              <a:t>Both were caught by checks we run on every number — which is why the results on the earlier slides can be trusted.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InternVL3 on FERMAT  ·  Qwen2.5-VL-7B on ScratchMath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Arial"/>
              </a:rPr>
              <a:t>OPEN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One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5440680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5440680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0312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7A4B"/>
                </a:solidFill>
                <a:latin typeface="Arial"/>
              </a:rPr>
              <a:t>SOLID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Perception: 0.835, survives every check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Abstention rule: 57 of 61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Reasoning: confirmed on 3 model families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Pooled-vs-split: a method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5257800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5257800" cy="41148"/>
          </a:xfrm>
          <a:prstGeom prst="rect">
            <a:avLst/>
          </a:prstGeom>
          <a:solidFill>
            <a:srgbClr val="9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10312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A12"/>
                </a:solidFill>
                <a:latin typeface="Arial"/>
              </a:rPr>
              <a:t>LIMITED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Every result sits on FERMAT alone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Both alternative datasets are 100%
    error items</a:t>
            </a:r>
          </a:p>
          <a:p>
            <a:pPr>
              <a:spcBef>
                <a:spcPts val="900"/>
              </a:spcBef>
            </a:pPr>
            <a:r>
              <a:rPr sz="1350" b="0" i="0">
                <a:solidFill>
                  <a:srgbClr val="171A21"/>
                </a:solidFill>
                <a:latin typeface="Arial"/>
              </a:rPr>
              <a:t>— …so neither can test the split on
    slide 4 at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617720"/>
            <a:ext cx="11057839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617720"/>
            <a:ext cx="11057839" cy="41148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8920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1A21"/>
                </a:solidFill>
                <a:latin typeface="Georgia"/>
              </a:rPr>
              <a:t>Accept one dataset as a limitation — or label correct pages ourselves?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~3 weeks to submission. All experiments done; remaining work is the write-up.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both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Arial"/>
              </a:rPr>
              <a:t>PROPOSED NEXT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71A21"/>
                </a:solidFill>
                <a:latin typeface="Georgia"/>
              </a:rPr>
              <a:t>Make it solve the problem, not just eyeball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83080"/>
            <a:ext cx="11057839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1057839" cy="41148"/>
          </a:xfrm>
          <a:prstGeom prst="rect">
            <a:avLst/>
          </a:prstGeom>
          <a:solidFill>
            <a:srgbClr val="9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93392"/>
            <a:ext cx="10835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1A21"/>
                </a:solidFill>
                <a:latin typeface="Georgia"/>
              </a:rPr>
              <a:t>The gap: plausibility-checking instead of recomputing.</a:t>
            </a:r>
          </a:p>
          <a:p>
            <a:pPr>
              <a:spcBef>
                <a:spcPts val="700"/>
              </a:spcBef>
            </a:pPr>
            <a:r>
              <a:rPr sz="1350" b="0" i="0">
                <a:solidFill>
                  <a:srgbClr val="4A5260"/>
                </a:solidFill>
                <a:latin typeface="Arial"/>
              </a:rPr>
              <a:t>It reads the student's steps and judges whether they look right. One page asserts </a:t>
            </a:r>
            <a:r>
              <a:rPr sz="1350" b="1" i="0">
                <a:solidFill>
                  <a:srgbClr val="171A21"/>
                </a:solidFill>
                <a:latin typeface="Arial"/>
              </a:rPr>
              <a:t>19 × −18 × 23 = −7966</a:t>
            </a:r>
            <a:r>
              <a:rPr sz="1350" b="0" i="0">
                <a:solidFill>
                  <a:srgbClr val="4A5260"/>
                </a:solidFill>
                <a:latin typeface="Arial"/>
              </a:rPr>
              <a:t>. The model accepted it. The correct value is </a:t>
            </a:r>
            <a:r>
              <a:rPr sz="1350" b="1" i="0">
                <a:solidFill>
                  <a:srgbClr val="B23A34"/>
                </a:solidFill>
                <a:latin typeface="Arial"/>
              </a:rPr>
              <a:t>−7866</a:t>
            </a:r>
            <a:r>
              <a:rPr sz="1350" b="0" i="0">
                <a:solidFill>
                  <a:srgbClr val="4A5260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154680"/>
            <a:ext cx="5440680" cy="246888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154680"/>
            <a:ext cx="5440680" cy="41148"/>
          </a:xfrm>
          <a:prstGeom prst="rect">
            <a:avLst/>
          </a:prstGeom>
          <a:solidFill>
            <a:srgbClr val="B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364992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9828F"/>
                </a:solidFill>
                <a:latin typeface="Arial"/>
              </a:rPr>
              <a:t>ALREADY TRIED — PROMPT LEVEL</a:t>
            </a:r>
          </a:p>
          <a:p>
            <a:pPr>
              <a:spcBef>
                <a:spcPts val="800"/>
              </a:spcBef>
            </a:pPr>
            <a:r>
              <a:rPr sz="1200" b="0" i="1">
                <a:solidFill>
                  <a:srgbClr val="171A21"/>
                </a:solidFill>
                <a:latin typeface="Arial"/>
              </a:rPr>
              <a:t>“First, transcribe the final result the student arrived at, exactly as written. Then check that result by working the problem yourself. Only then decide whether the Answer contains an error.”</a:t>
            </a:r>
          </a:p>
          <a:p>
            <a:pPr>
              <a:spcBef>
                <a:spcPts val="900"/>
              </a:spcBef>
            </a:pPr>
            <a:r>
              <a:rPr sz="1300" b="1" i="0">
                <a:solidFill>
                  <a:srgbClr val="171A21"/>
                </a:solidFill>
                <a:latin typeface="Arial"/>
              </a:rPr>
              <a:t>Qwen-3B  </a:t>
            </a:r>
            <a:r>
              <a:rPr sz="1300" b="0" i="0">
                <a:solidFill>
                  <a:srgbClr val="4A5260"/>
                </a:solidFill>
                <a:latin typeface="Arial"/>
              </a:rPr>
              <a:t>says-error 94% → 38%, accuracy 0.51 → 0.55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171A21"/>
                </a:solidFill>
                <a:latin typeface="Arial"/>
              </a:rPr>
              <a:t>InternVL3  </a:t>
            </a:r>
            <a:r>
              <a:rPr sz="1300" b="0" i="0">
                <a:solidFill>
                  <a:srgbClr val="4A5260"/>
                </a:solidFill>
                <a:latin typeface="Arial"/>
              </a:rPr>
              <a:t>accuracy 0.70 → 0.67</a:t>
            </a:r>
          </a:p>
          <a:p>
            <a:pPr>
              <a:spcBef>
                <a:spcPts val="900"/>
              </a:spcBef>
            </a:pPr>
            <a:r>
              <a:rPr sz="1300" b="1" i="0">
                <a:solidFill>
                  <a:srgbClr val="B23A34"/>
                </a:solidFill>
                <a:latin typeface="Arial"/>
              </a:rPr>
              <a:t>Behaviour swung hard. Accuracy did not move.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154680"/>
            <a:ext cx="5257800" cy="246888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3154680"/>
            <a:ext cx="5257800" cy="41148"/>
          </a:xfrm>
          <a:prstGeom prst="rect">
            <a:avLst/>
          </a:prstGeom>
          <a:solidFill>
            <a:srgbClr val="1B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364992"/>
            <a:ext cx="4709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9828F"/>
                </a:solidFill>
                <a:latin typeface="Arial"/>
              </a:rPr>
              <a:t>NOT YET TRIED — PIPELINE LEVEL</a:t>
            </a:r>
          </a:p>
          <a:p>
            <a:pPr>
              <a:spcBef>
                <a:spcPts val="800"/>
              </a:spcBef>
            </a:pPr>
            <a:r>
              <a:rPr sz="1350" b="1" i="0">
                <a:solidFill>
                  <a:srgbClr val="171A21"/>
                </a:solidFill>
                <a:latin typeface="Arial"/>
              </a:rPr>
              <a:t>Solve the page independently, then compare in code.</a:t>
            </a:r>
          </a:p>
          <a:p>
            <a:pPr>
              <a:spcBef>
                <a:spcPts val="900"/>
              </a:spcBef>
            </a:pPr>
            <a:r>
              <a:rPr sz="1300" b="0" i="0">
                <a:solidFill>
                  <a:srgbClr val="4A5260"/>
                </a:solidFill>
                <a:latin typeface="Arial"/>
              </a:rPr>
              <a:t>Asking one prompt to do both still lets the model see the student's answer first, so it can anchor on it. A separate solve step cannot.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4A5260"/>
                </a:solidFill>
                <a:latin typeface="Arial"/>
              </a:rPr>
              <a:t>Then re-measure: does the split on slide 4 still hold, and does uncertainty still predict the errors?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87568"/>
            <a:ext cx="11057839" cy="41148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81558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A21"/>
                </a:solidFill>
                <a:latin typeface="Georgia"/>
              </a:rPr>
              <a:t>Worth the remaining time — or write up what we have?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6422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5D8C"/>
                </a:solidFill>
                <a:latin typeface="Arial"/>
              </a:rPr>
              <a:t>FERMAT</a:t>
            </a:r>
            <a:r>
              <a:rPr sz="1000" b="0" i="0">
                <a:solidFill>
                  <a:srgbClr val="DDE2EA"/>
                </a:solidFill>
                <a:latin typeface="Arial"/>
              </a:rPr>
              <a:t>   ·   </a:t>
            </a:r>
            <a:r>
              <a:rPr sz="1000" b="0" i="0">
                <a:solidFill>
                  <a:srgbClr val="79828F"/>
                </a:solidFill>
                <a:latin typeface="Arial"/>
              </a:rPr>
              <a:t>reasoning — 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9828F"/>
                </a:solidFill>
                <a:latin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