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FERMAT: handwritten math,
errors planted on purpose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7400"/>
            <a:ext cx="5058383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2057400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171A21"/>
                </a:solidFill>
                <a:latin typeface="Arial"/>
              </a:rPr>
              <a:t>~2,200</a:t>
            </a:r>
            <a:r>
              <a:rPr sz="1600" b="0" i="0">
                <a:solidFill>
                  <a:srgbClr val="4A5260"/>
                </a:solidFill>
                <a:latin typeface="Arial"/>
              </a:rPr>
              <a:t> photographed solutions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71A21"/>
                </a:solidFill>
                <a:latin typeface="Arial"/>
              </a:rPr>
              <a:t>85%</a:t>
            </a:r>
            <a:r>
              <a:rPr sz="1600" b="0" i="0">
                <a:solidFill>
                  <a:srgbClr val="4A5260"/>
                </a:solidFill>
                <a:latin typeface="Arial"/>
              </a:rPr>
              <a:t> contain a deliberate error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71A21"/>
                </a:solidFill>
                <a:latin typeface="Arial"/>
              </a:rPr>
              <a:t>Question + answer</a:t>
            </a:r>
            <a:r>
              <a:rPr sz="1600" b="0" i="0">
                <a:solidFill>
                  <a:srgbClr val="4A5260"/>
                </a:solidFill>
                <a:latin typeface="Arial"/>
              </a:rPr>
              <a:t> both in the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36118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9828F"/>
                </a:solidFill>
                <a:latin typeface="Arial"/>
              </a:rPr>
              <a:t>ONLY FERMAT HAS CORRECT ANSWERS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977639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FERMAT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397763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15% clean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88535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4361687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ErrorRadar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361687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672583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4745735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745735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056631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5440680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4A5260"/>
                </a:solidFill>
                <a:latin typeface="Arial"/>
              </a:rPr>
              <a:t>No clean items → no balanced set → the finding on slide 4 cannot be measured at 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RESULT —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Disagreement predicts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Read the same page 5 times. Measure the disagreement.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31720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7328" y="233172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060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15768"/>
            <a:ext cx="3200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All 300 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715768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0.835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[0.787, 0.879]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546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27832"/>
            <a:ext cx="3200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Hardest cases deleted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227832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0.796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[0.736, 0.852]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66674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39896"/>
            <a:ext cx="3200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Model's own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739896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0.537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[0.469, 0.605]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7880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16052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A5260"/>
                </a:solidFill>
                <a:latin typeface="Arial"/>
              </a:rPr>
              <a:t>Row 2 explained on slide 5. Row 3's interval crosses 0.50 — the model's own confidence is no better than a coin flip 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194560"/>
            <a:ext cx="475488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2194560"/>
            <a:ext cx="47548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2514600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1A21"/>
                </a:solidFill>
                <a:latin typeface="Georgia"/>
              </a:rPr>
              <a:t>All 5 readings disagree?</a:t>
            </a:r>
          </a:p>
          <a:p>
            <a:pPr>
              <a:spcBef>
                <a:spcPts val="800"/>
              </a:spcBef>
            </a:pPr>
            <a:r>
              <a:rPr sz="1900" b="1" i="0">
                <a:solidFill>
                  <a:srgbClr val="1B7A4B"/>
                </a:solidFill>
                <a:latin typeface="Georgia"/>
              </a:rPr>
              <a:t>Wrong 57 times out of 61.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A usable abstention rule. No training, no labels.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EVIDENCE — FOUR REAL PAGES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Where it works, and the blind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20" y="1938528"/>
            <a:ext cx="1520703" cy="18745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78308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193371"/>
            <a:ext cx="2487168" cy="13648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Caught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5936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783080"/>
            <a:ext cx="2761488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127" y="1938528"/>
            <a:ext cx="1537105" cy="187451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83096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9A6A12"/>
                </a:solidFill>
                <a:latin typeface="Arial"/>
              </a:rPr>
              <a:t>False alarm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783080"/>
            <a:ext cx="2761488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6923" y="1938528"/>
            <a:ext cx="1518522" cy="18745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72600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Blind spot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864608"/>
            <a:ext cx="11057839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864608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513892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1A21"/>
                </a:solidFill>
                <a:latin typeface="Georgia"/>
              </a:rPr>
              <a:t>Page 1 and page 4 look identical to the method — both entropy zero.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One is right, one is wrong. Confident errors are invisible to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METHOD WARNING — THE KEY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The average hid 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Grading task. Same 300 items, split by whether an error was really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77440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237744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377440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5176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76148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Everything pooled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76148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23A34"/>
                </a:solidFill>
                <a:latin typeface="Arial"/>
              </a:rPr>
              <a:t>0.520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[0.458, 0.582]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76148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23A34"/>
                </a:solidFill>
                <a:latin typeface="Arial"/>
              </a:rPr>
              <a:t>looks like chance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328416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Items with an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32841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0.801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[0.751, 0.846]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32841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well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82219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95344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Items that are correct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89534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0.280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[0.200, 0.366]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3895344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backwards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71A21"/>
                </a:solidFill>
                <a:latin typeface="Georgia"/>
              </a:rPr>
              <a:t>0.80 and 0.28 average out to 0.52.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Both halves are real. Pooling reports neither. Only visible because FERMAT has correct items.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Holds across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8688" y="196596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402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50008"/>
            <a:ext cx="26517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8688" y="2350008"/>
            <a:ext cx="29260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0.854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[0.796, 0.902]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7063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843784"/>
            <a:ext cx="26517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2843784"/>
            <a:ext cx="29260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0.801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[0.751, 0.846]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6440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337560"/>
            <a:ext cx="26517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LLaVA-NeXT-7B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3337560"/>
            <a:ext cx="29260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0.775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[0.694, 0.848]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75818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576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4A5260"/>
                </a:solidFill>
                <a:latin typeface="Arial"/>
              </a:rPr>
              <a:t>Intervals overlap. Not a Qwen quirk.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06240"/>
            <a:ext cx="11057839" cy="196596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25696"/>
            <a:ext cx="108356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D8C"/>
                </a:solidFill>
                <a:latin typeface="Arial"/>
              </a:rPr>
              <a:t>THE ROBUSTNESS CHECK</a:t>
            </a:r>
          </a:p>
          <a:p>
            <a:pPr>
              <a:spcBef>
                <a:spcPts val="700"/>
              </a:spcBef>
            </a:pPr>
            <a:r>
              <a:rPr sz="1500" b="1" i="0">
                <a:solidFill>
                  <a:srgbClr val="171A21"/>
                </a:solidFill>
                <a:latin typeface="Arial"/>
              </a:rPr>
              <a:t>Delete every item where all 5 readings differed.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 Those are easy to flag and nearly always wrong. If the score survives, the signal is graded. If it collapses, the score was only detecting total breakdown.</a:t>
            </a:r>
          </a:p>
          <a:p>
            <a:pPr>
              <a:spcBef>
                <a:spcPts val="1200"/>
              </a:spcBef>
            </a:pPr>
            <a:r>
              <a:rPr sz="1500" b="1" i="0">
                <a:solidFill>
                  <a:srgbClr val="1B7A4B"/>
                </a:solidFill>
                <a:latin typeface="Arial"/>
              </a:rPr>
              <a:t>Qwen  0.835 → 0.794</a:t>
            </a:r>
            <a:r>
              <a:rPr sz="1300" b="0" i="0">
                <a:solidFill>
                  <a:srgbClr val="4A5260"/>
                </a:solidFill>
                <a:latin typeface="Arial"/>
              </a:rPr>
              <a:t>   239 items left, barely moves          </a:t>
            </a:r>
            <a:r>
              <a:rPr sz="1500" b="1" i="0">
                <a:solidFill>
                  <a:srgbClr val="B23A34"/>
                </a:solidFill>
                <a:latin typeface="Arial"/>
              </a:rPr>
              <a:t>InternVL3  0.915 → 0.556</a:t>
            </a:r>
            <a:r>
              <a:rPr sz="1300" b="0" i="0">
                <a:solidFill>
                  <a:srgbClr val="4A5260"/>
                </a:solidFill>
                <a:latin typeface="Arial"/>
              </a:rPr>
              <a:t>   only 98 left, collapses to chance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OPEN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544068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4406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SOLID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Perception signal 0.835, robust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Abstention rule 57/61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Confirmed on 3 model families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Pooled-vs-split: a method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25780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28800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LIMITED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Everything sits on one dataset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Both alternatives are 100% error items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…so they cannot test the split at all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On one, the model said “error” while
    saying it could not read the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1A21"/>
                </a:solidFill>
                <a:latin typeface="Georgia"/>
              </a:rPr>
              <a:t>Accept one dataset as a limitation — or label correct items ourselves?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~3 weeks to submission. All experiments done; remaining work is the write-up.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