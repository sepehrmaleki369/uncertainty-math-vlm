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FERMAT: handwritten math,
errors planted on purpose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43450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205740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A21"/>
                </a:solidFill>
                <a:latin typeface="Arial"/>
              </a:rPr>
              <a:t>~2,200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photographed solutions   ·   </a:t>
            </a:r>
            <a:r>
              <a:rPr sz="1500" b="1" i="0">
                <a:solidFill>
                  <a:srgbClr val="171A21"/>
                </a:solidFill>
                <a:latin typeface="Arial"/>
              </a:rPr>
              <a:t>85%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contain a deliberate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2606040"/>
            <a:ext cx="5943600" cy="169164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2606040"/>
            <a:ext cx="5943600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25312" y="2816352"/>
            <a:ext cx="5440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WE TEST TWO SEPARATE TASKS</a:t>
            </a:r>
          </a:p>
          <a:p>
            <a:pPr>
              <a:spcBef>
                <a:spcPts val="900"/>
              </a:spcBef>
            </a:pPr>
            <a:r>
              <a:rPr sz="1400" b="1" i="0">
                <a:solidFill>
                  <a:srgbClr val="171A21"/>
                </a:solidFill>
                <a:latin typeface="Arial"/>
              </a:rPr>
              <a:t>Perception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— read the page. Did it transcribe correctly?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171A21"/>
                </a:solidFill>
                <a:latin typeface="Arial"/>
              </a:rPr>
              <a:t>Reasoning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— grade the page. Did it spot the error correctly?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572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ONLY FERMAT HAS CORRECT ANSWERS TOO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49194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FERMAT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9194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7A4B"/>
                </a:solidFill>
                <a:latin typeface="Arial"/>
              </a:rPr>
              <a:t>15% clean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21208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5285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ErrorRadar  /  ScratchMath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52852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23A34"/>
                </a:solidFill>
                <a:latin typeface="Arial"/>
              </a:rPr>
              <a:t>no clean items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57784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PERCEPTION — CONFIRMED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When it can't read a page twice the same way, it's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The model is asked to </a:t>
            </a:r>
            <a:r>
              <a:rPr sz="1500" b="0" i="1">
                <a:solidFill>
                  <a:srgbClr val="171A21"/>
                </a:solidFill>
                <a:latin typeface="Arial"/>
              </a:rPr>
              <a:t>“explicitly perform OCR on the handwritten text and extract the content in LaTeX format.”</a:t>
            </a:r>
          </a:p>
          <a:p>
            <a:pPr>
              <a:spcBef>
                <a:spcPts val="500"/>
              </a:spcBef>
            </a:pPr>
            <a:r>
              <a:rPr sz="1500" b="0" i="0">
                <a:solidFill>
                  <a:srgbClr val="4A5260"/>
                </a:solidFill>
                <a:latin typeface="Arial"/>
              </a:rPr>
              <a:t>We do that 5 times per page and measure how much the readings disagree.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33088" y="265176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92608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035808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All 300 pages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3088" y="3035808"/>
            <a:ext cx="27432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0.835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[0.787, 0.879]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47472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547872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Hardest cases deleted  (slide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8" y="3547872"/>
            <a:ext cx="27432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0.796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[0.736, 0.852]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98678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059936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The model's own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3088" y="4059936"/>
            <a:ext cx="27432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0.537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[0.469, 0.605]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9884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462272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A5260"/>
                </a:solidFill>
                <a:latin typeface="Arial"/>
              </a:rPr>
              <a:t>Row 3's interval crosses 0.50 — the model's own confidence score is no better than a coin flip here.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23760" y="2560320"/>
            <a:ext cx="4389120" cy="22860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23760" y="2560320"/>
            <a:ext cx="438912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16368" y="2880360"/>
            <a:ext cx="3840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1A21"/>
                </a:solidFill>
                <a:latin typeface="Georgia"/>
              </a:rPr>
              <a:t>All 5 readings disagree?</a:t>
            </a:r>
          </a:p>
          <a:p>
            <a:pPr>
              <a:spcBef>
                <a:spcPts val="800"/>
              </a:spcBef>
            </a:pPr>
            <a:r>
              <a:rPr sz="1800" b="1" i="0">
                <a:solidFill>
                  <a:srgbClr val="1B7A4B"/>
                </a:solidFill>
                <a:latin typeface="Georgia"/>
              </a:rPr>
              <a:t>Wrong 57 times out of 61.</a:t>
            </a:r>
          </a:p>
          <a:p>
            <a:pPr>
              <a:spcBef>
                <a:spcPts val="1200"/>
              </a:spcBef>
            </a:pPr>
            <a:r>
              <a:rPr sz="1250" b="0" i="0">
                <a:solidFill>
                  <a:srgbClr val="4A5260"/>
                </a:solidFill>
                <a:latin typeface="Arial"/>
              </a:rPr>
              <a:t>Flag those for a human. Catches 57 real errors, wastes 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perception — reading the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PERCEPTION —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1A21"/>
                </a:solidFill>
                <a:latin typeface="Georgia"/>
              </a:rPr>
              <a:t>Where it works, and the blind spot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3736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10" y="1883664"/>
            <a:ext cx="1446523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Correct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73736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2092787"/>
            <a:ext cx="2487168" cy="13648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Caught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5936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2761488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617" y="1883664"/>
            <a:ext cx="1462125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83096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9A6A12"/>
                </a:solidFill>
                <a:latin typeface="Arial"/>
              </a:rPr>
              <a:t>False alarm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1737360"/>
            <a:ext cx="2761488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3959" y="1883664"/>
            <a:ext cx="1444449" cy="1783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372600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B23A34"/>
                </a:solidFill>
                <a:latin typeface="Arial"/>
              </a:rPr>
              <a:t>Blind spot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17720"/>
            <a:ext cx="11057839" cy="1481328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828032"/>
            <a:ext cx="10835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1A21"/>
                </a:solidFill>
                <a:latin typeface="Georgia"/>
              </a:rPr>
              <a:t>Page 1 and page 4 look identical to the method — both entropy zero. One is right, one is wrong.</a:t>
            </a:r>
          </a:p>
          <a:p>
            <a:pPr>
              <a:spcBef>
                <a:spcPts val="900"/>
              </a:spcBef>
            </a:pPr>
            <a:r>
              <a:rPr sz="1350" b="1" i="0">
                <a:solidFill>
                  <a:srgbClr val="2F5D8C"/>
                </a:solidFill>
                <a:latin typeface="Arial"/>
              </a:rPr>
              <a:t>The robustness check: </a:t>
            </a:r>
            <a:r>
              <a:rPr sz="1350" b="0" i="0">
                <a:solidFill>
                  <a:srgbClr val="4A5260"/>
                </a:solidFill>
                <a:latin typeface="Arial"/>
              </a:rPr>
              <a:t>delete every page where all 5 readings differed — easy to flag, nearly always wrong. If the score survives, the signal is graded. Qwen </a:t>
            </a:r>
            <a:r>
              <a:rPr sz="1350" b="1" i="0">
                <a:solidFill>
                  <a:srgbClr val="1B7A4B"/>
                </a:solidFill>
                <a:latin typeface="Arial"/>
              </a:rPr>
              <a:t>0.835 → 0.794</a:t>
            </a:r>
            <a:r>
              <a:rPr sz="1350" b="0" i="0">
                <a:solidFill>
                  <a:srgbClr val="4A5260"/>
                </a:solidFill>
                <a:latin typeface="Arial"/>
              </a:rPr>
              <a:t>, 239 pages left.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perception — Qwen2.5-VL-3B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23A34"/>
                </a:solidFill>
                <a:latin typeface="Arial"/>
              </a:rPr>
              <a:t>REASONING — NEGATIVE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The same signal does not work for grading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0"/>
            <a:ext cx="10698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Different task. The model is asked only: </a:t>
            </a:r>
            <a:r>
              <a:rPr sz="1500" b="0" i="1">
                <a:solidFill>
                  <a:srgbClr val="171A21"/>
                </a:solidFill>
                <a:latin typeface="Arial"/>
              </a:rPr>
              <a:t>“analyze the Answer to determine whether there is any error.”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 It never sees the correct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9748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3168" y="2697480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82128" y="26974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7180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08152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Grading, 300 balanced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308152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B23A34"/>
                </a:solidFill>
                <a:latin typeface="Arial"/>
              </a:rPr>
              <a:t>0.520</a:t>
            </a:r>
            <a:r>
              <a:rPr sz="1350" b="0" i="0">
                <a:solidFill>
                  <a:srgbClr val="79828F"/>
                </a:solidFill>
                <a:latin typeface="Arial"/>
              </a:rPr>
              <a:t>  [0.458, 0.582]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2128" y="308152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23A34"/>
                </a:solidFill>
                <a:latin typeface="Arial"/>
              </a:rPr>
              <a:t>interval contains chance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64845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977639"/>
            <a:ext cx="11057839" cy="17830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977639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71A21"/>
                </a:solidFill>
                <a:latin typeface="Georgia"/>
              </a:rPr>
              <a:t>No signal. That is the honest reasoning result.</a:t>
            </a:r>
          </a:p>
          <a:p>
            <a:pPr>
              <a:spcBef>
                <a:spcPts val="1000"/>
              </a:spcBef>
            </a:pPr>
            <a:r>
              <a:rPr sz="1400" b="0" i="0">
                <a:solidFill>
                  <a:srgbClr val="4A5260"/>
                </a:solidFill>
                <a:latin typeface="Arial"/>
              </a:rPr>
              <a:t>The model answers “error” for 80–90% of pages regardless of what is on them. Balancing the set is what makes this readable — on an unbalanced set that bias alone would score well.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grading the page  ·  Qwen2.5-VL-7B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WHAT WE GOT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1A21"/>
                </a:solidFill>
                <a:latin typeface="Georgia"/>
              </a:rPr>
              <a:t>We believed the opposite for three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Splitting the grading data by ground truth seemed to recover a strong effect — replicated across three model families.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40280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8" y="2240280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WE 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44768" y="2240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SIGNAL-FREE COIN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7968" y="224028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COLLAPSE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51460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6243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Qwen2.5-VL-3B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62432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26243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0.901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26243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3A34"/>
                </a:solidFill>
                <a:latin typeface="Arial"/>
              </a:rPr>
              <a:t>99.8%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0837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0815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Qwen2.5-VL-7B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8" y="308152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30815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0.868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30815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3A34"/>
                </a:solidFill>
                <a:latin typeface="Arial"/>
              </a:rP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46557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5387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LLaVA-NeXT-7B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8" y="353872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5387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0.831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35387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3A34"/>
                </a:solidFill>
                <a:latin typeface="Arial"/>
              </a:rPr>
              <a:t>97.2%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2277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297680"/>
            <a:ext cx="11057839" cy="173736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297680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52628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1A21"/>
                </a:solidFill>
                <a:latin typeface="Georgia"/>
              </a:rPr>
              <a:t>Inside one label group, “was it correct” IS “what did it answer”.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The same column, 100% of the time. Entropy is computed from those very votes, so it predicts correctness almost by definition. </a:t>
            </a:r>
            <a:r>
              <a:rPr sz="1350" b="1" i="0">
                <a:solidFill>
                  <a:srgbClr val="B23A34"/>
                </a:solidFill>
                <a:latin typeface="Arial"/>
              </a:rPr>
              <a:t>A coin with no signal scores higher than we did.</a:t>
            </a:r>
          </a:p>
          <a:p>
            <a:pPr>
              <a:spcBef>
                <a:spcPts val="600"/>
              </a:spcBef>
            </a:pPr>
            <a:r>
              <a:rPr sz="1300" b="0" i="1">
                <a:solidFill>
                  <a:srgbClr val="79828F"/>
                </a:solidFill>
                <a:latin typeface="Arial"/>
              </a:rPr>
              <a:t>Not caught by pre-registration, by power, or by replicating it three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retracted 2026-08-09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23A34"/>
                </a:solidFill>
                <a:latin typeface="Arial"/>
              </a:rPr>
              <a:t>WHAT DID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Two results we had to throw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74519"/>
            <a:ext cx="5440680" cy="32004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74519"/>
            <a:ext cx="5440680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03120"/>
            <a:ext cx="48463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 4TH MODEL, PERCEPTION</a:t>
            </a:r>
          </a:p>
          <a:p>
            <a:pPr>
              <a:spcBef>
                <a:spcPts val="900"/>
              </a:spcBef>
            </a:pPr>
            <a:r>
              <a:rPr sz="2700" b="1" i="0">
                <a:solidFill>
                  <a:srgbClr val="B23A34"/>
                </a:solidFill>
                <a:latin typeface="Georgia"/>
              </a:rPr>
              <a:t>0.915</a:t>
            </a:r>
            <a:r>
              <a:rPr sz="1800" b="0" i="0">
                <a:solidFill>
                  <a:srgbClr val="79828F"/>
                </a:solidFill>
                <a:latin typeface="Arial"/>
              </a:rPr>
              <a:t>  →  </a:t>
            </a:r>
            <a:r>
              <a:rPr sz="2700" b="1" i="0">
                <a:solidFill>
                  <a:srgbClr val="171A21"/>
                </a:solidFill>
                <a:latin typeface="Georgia"/>
              </a:rPr>
              <a:t>0.556</a:t>
            </a:r>
          </a:p>
          <a:p>
            <a:pPr>
              <a:spcBef>
                <a:spcPts val="11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InternVL3 looked like our best result. Under the robustness check it collapsed to chance — </a:t>
            </a:r>
            <a:r>
              <a:rPr sz="1350" b="1" i="0">
                <a:solidFill>
                  <a:srgbClr val="171A21"/>
                </a:solidFill>
                <a:latin typeface="Arial"/>
              </a:rPr>
              <a:t>2 of every 3 pages were total breakdowns</a:t>
            </a:r>
            <a:r>
              <a:rPr sz="1350" b="0" i="0">
                <a:solidFill>
                  <a:srgbClr val="4A5260"/>
                </a:solidFill>
                <a:latin typeface="Arial"/>
              </a:rPr>
              <a:t>, and that binary was all the score was detecting.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74519"/>
            <a:ext cx="5257800" cy="32004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874519"/>
            <a:ext cx="5257800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103120"/>
            <a:ext cx="470916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 2ND DATASET, REASONING</a:t>
            </a:r>
          </a:p>
          <a:p>
            <a:pPr>
              <a:spcBef>
                <a:spcPts val="900"/>
              </a:spcBef>
            </a:pPr>
            <a:r>
              <a:rPr sz="2700" b="1" i="0">
                <a:solidFill>
                  <a:srgbClr val="9A6A12"/>
                </a:solidFill>
                <a:latin typeface="Georgia"/>
              </a:rPr>
              <a:t>96%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 accuracy, and meaningless</a:t>
            </a:r>
          </a:p>
          <a:p>
            <a:pPr>
              <a:spcBef>
                <a:spcPts val="11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ScratchMath, 100 pages. Every page contains an error, and the model answers “error” 90% of the time — so it scores well by construction.</a:t>
            </a:r>
          </a:p>
          <a:p>
            <a:pPr>
              <a:spcBef>
                <a:spcPts val="800"/>
              </a:spcBef>
            </a:pPr>
            <a:r>
              <a:rPr sz="1350" b="1" i="0">
                <a:solidFill>
                  <a:srgbClr val="171A21"/>
                </a:solidFill>
                <a:latin typeface="Arial"/>
              </a:rPr>
              <a:t>In 24% of readings it said it could not read the image. It answered “error” anyway in 82% of those.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285232"/>
            <a:ext cx="11057839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285232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5468112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A21"/>
                </a:solidFill>
                <a:latin typeface="Georgia"/>
              </a:rPr>
              <a:t>Both were caught by checks we run on every number — which is why the results on the earlier slides can be trusted.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InternVL3 on FERMAT  ·  Qwen2.5-VL-7B on ScratchMath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OPEN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One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28800"/>
            <a:ext cx="544068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28800"/>
            <a:ext cx="544068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0312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SOLID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Perception: 0.835, survives every check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Abstention rule: 57 of 61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Reasoning: no signal — measured, not assumed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The stratification trap: a method finding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28800"/>
            <a:ext cx="525780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828800"/>
            <a:ext cx="5257800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103120"/>
            <a:ext cx="4663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LIMITED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Every result sits on FERMAT alone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Both alternative datasets are 100%
    error items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…so neither can test the split on
    slide 4 at 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617720"/>
            <a:ext cx="11057839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48920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1A21"/>
                </a:solidFill>
                <a:latin typeface="Georgia"/>
              </a:rPr>
              <a:t>Accept one dataset as a limitation — or label correct pages ourselves?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~3 weeks to submission. All experiments done; remaining work is the write-up.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both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PROPOSED NEXT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Make it solve the problem, not just eyeball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83080"/>
            <a:ext cx="11057839" cy="11430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11057839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93392"/>
            <a:ext cx="10835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1A21"/>
                </a:solidFill>
                <a:latin typeface="Georgia"/>
              </a:rPr>
              <a:t>The gap: plausibility-checking instead of recomputing.</a:t>
            </a:r>
          </a:p>
          <a:p>
            <a:pPr>
              <a:spcBef>
                <a:spcPts val="7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It reads the student's steps and judges whether they look right. One page asserts </a:t>
            </a:r>
            <a:r>
              <a:rPr sz="1350" b="1" i="0">
                <a:solidFill>
                  <a:srgbClr val="171A21"/>
                </a:solidFill>
                <a:latin typeface="Arial"/>
              </a:rPr>
              <a:t>19 × −18 × 23 = −7966</a:t>
            </a:r>
            <a:r>
              <a:rPr sz="1350" b="0" i="0">
                <a:solidFill>
                  <a:srgbClr val="4A5260"/>
                </a:solidFill>
                <a:latin typeface="Arial"/>
              </a:rPr>
              <a:t>. The model accepted it. The correct value is </a:t>
            </a:r>
            <a:r>
              <a:rPr sz="1350" b="1" i="0">
                <a:solidFill>
                  <a:srgbClr val="B23A34"/>
                </a:solidFill>
                <a:latin typeface="Arial"/>
              </a:rPr>
              <a:t>−7866</a:t>
            </a:r>
            <a:r>
              <a:rPr sz="1350" b="0" i="0">
                <a:solidFill>
                  <a:srgbClr val="4A5260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154680"/>
            <a:ext cx="5440680" cy="24688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154680"/>
            <a:ext cx="5440680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364992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ALREADY TRIED — PROMPT LEVEL</a:t>
            </a:r>
          </a:p>
          <a:p>
            <a:pPr>
              <a:spcBef>
                <a:spcPts val="800"/>
              </a:spcBef>
            </a:pPr>
            <a:r>
              <a:rPr sz="1200" b="0" i="1">
                <a:solidFill>
                  <a:srgbClr val="171A21"/>
                </a:solidFill>
                <a:latin typeface="Arial"/>
              </a:rPr>
              <a:t>“First, transcribe the final result the student arrived at, exactly as written. Then check that result by working the problem yourself. Only then decide whether the Answer contains an error.”</a:t>
            </a:r>
          </a:p>
          <a:p>
            <a:pPr>
              <a:spcBef>
                <a:spcPts val="900"/>
              </a:spcBef>
            </a:pPr>
            <a:r>
              <a:rPr sz="1300" b="1" i="0">
                <a:solidFill>
                  <a:srgbClr val="171A21"/>
                </a:solidFill>
                <a:latin typeface="Arial"/>
              </a:rPr>
              <a:t>Qwen-3B  </a:t>
            </a:r>
            <a:r>
              <a:rPr sz="1300" b="0" i="0">
                <a:solidFill>
                  <a:srgbClr val="4A5260"/>
                </a:solidFill>
                <a:latin typeface="Arial"/>
              </a:rPr>
              <a:t>says-error 94% → 38%, accuracy 0.51 → 0.55</a:t>
            </a:r>
          </a:p>
          <a:p>
            <a:pPr>
              <a:spcBef>
                <a:spcPts val="500"/>
              </a:spcBef>
            </a:pPr>
            <a:r>
              <a:rPr sz="1300" b="1" i="0">
                <a:solidFill>
                  <a:srgbClr val="171A21"/>
                </a:solidFill>
                <a:latin typeface="Arial"/>
              </a:rPr>
              <a:t>InternVL3  </a:t>
            </a:r>
            <a:r>
              <a:rPr sz="1300" b="0" i="0">
                <a:solidFill>
                  <a:srgbClr val="4A5260"/>
                </a:solidFill>
                <a:latin typeface="Arial"/>
              </a:rPr>
              <a:t>accuracy 0.70 → 0.67</a:t>
            </a:r>
          </a:p>
          <a:p>
            <a:pPr>
              <a:spcBef>
                <a:spcPts val="900"/>
              </a:spcBef>
            </a:pPr>
            <a:r>
              <a:rPr sz="1300" b="1" i="0">
                <a:solidFill>
                  <a:srgbClr val="B23A34"/>
                </a:solidFill>
                <a:latin typeface="Arial"/>
              </a:rPr>
              <a:t>Behaviour swung hard. Accuracy did not move.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3154680"/>
            <a:ext cx="5257800" cy="24688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3154680"/>
            <a:ext cx="525780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3364992"/>
            <a:ext cx="4709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NOT YET TRIED — PIPELINE LEVEL</a:t>
            </a:r>
          </a:p>
          <a:p>
            <a:pPr>
              <a:spcBef>
                <a:spcPts val="800"/>
              </a:spcBef>
            </a:pPr>
            <a:r>
              <a:rPr sz="1350" b="1" i="0">
                <a:solidFill>
                  <a:srgbClr val="171A21"/>
                </a:solidFill>
                <a:latin typeface="Arial"/>
              </a:rPr>
              <a:t>Solve the page independently, then compare in code.</a:t>
            </a:r>
          </a:p>
          <a:p>
            <a:pPr>
              <a:spcBef>
                <a:spcPts val="900"/>
              </a:spcBef>
            </a:pPr>
            <a:r>
              <a:rPr sz="1300" b="0" i="0">
                <a:solidFill>
                  <a:srgbClr val="4A5260"/>
                </a:solidFill>
                <a:latin typeface="Arial"/>
              </a:rPr>
              <a:t>Asking one prompt to do both still lets the model see the student's answer first, so it can anchor on it. A separate solve step cannot.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4A5260"/>
                </a:solidFill>
                <a:latin typeface="Arial"/>
              </a:rPr>
              <a:t>Then re-measure: does the split on slide 4 still hold, and does uncertainty still predict the errors?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687568"/>
            <a:ext cx="11057839" cy="54864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5687568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5815584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A21"/>
                </a:solidFill>
                <a:latin typeface="Georgia"/>
              </a:rPr>
              <a:t>Worth the remaining time — or write up what we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proposed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